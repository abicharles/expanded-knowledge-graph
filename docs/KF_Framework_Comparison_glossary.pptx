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Consultancy Services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45175" y="274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· WHAT THE TERMS MEAN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45175" y="4754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FABRIC </a:t>
            </a:r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CONFIDENTIAL · 01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12700">
            <a:solidFill>
              <a:srgbClr val="C9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framework’s language — </a:t>
            </a:r>
            <a:pPr indent="0" marL="0">
              <a:buNone/>
            </a:pPr>
            <a:r>
              <a:rPr lang="en-US" sz="2900" b="1" i="1" dirty="0">
                <a:solidFill>
                  <a:srgbClr val="9B2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our terms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(Prukalpa, Atlan) uses specific words. Here is what each means, what it maps to in our Knowledge Fabric, and why it matters.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11185855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9933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KNOWLEDGE FABRIC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0" y="1993392"/>
            <a:ext cx="2681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111858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286000"/>
            <a:ext cx="182880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286000"/>
            <a:ext cx="15727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31720" y="2286000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2286000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2286000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340864"/>
            <a:ext cx="2944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machine-usable substance of context: the three things an agent needs before it can act — data, meaning, and know-how.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669280" y="2340864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three objects: Data sources, Ontology, and Scenarios.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961120" y="2340864"/>
            <a:ext cx="260878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to build. Ours is complete — all three parts run today.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255264"/>
            <a:ext cx="111858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255264"/>
            <a:ext cx="182880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3255264"/>
            <a:ext cx="15727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/ procedural knowledge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31720" y="3255264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255264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3255264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3310128"/>
            <a:ext cx="2944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versionable units of how work actually gets done — procedures and the rules that constrain them.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669280" y="33101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Scenarios — named rule-sets, one per repeatable decision, decoupled from data.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8961120" y="3310128"/>
            <a:ext cx="260878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 most vendors lack. It is the centre of our architecture.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4224528"/>
            <a:ext cx="11185855" cy="969264"/>
          </a:xfrm>
          <a:prstGeom prst="rect">
            <a:avLst/>
          </a:prstGeom>
          <a:solidFill>
            <a:srgbClr val="F4E4E4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24528"/>
            <a:ext cx="1828800" cy="969264"/>
          </a:xfrm>
          <a:prstGeom prst="rect">
            <a:avLst/>
          </a:prstGeom>
          <a:solidFill>
            <a:srgbClr val="9B2226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4224528"/>
            <a:ext cx="15727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 / learning loop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31720" y="4224528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4224528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3960" y="4224528"/>
            <a:ext cx="0" cy="969264"/>
          </a:xfrm>
          <a:prstGeom prst="line">
            <a:avLst/>
          </a:prstGeom>
          <a:noFill/>
          <a:ln w="9525">
            <a:solidFill>
              <a:srgbClr val="C9CF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4279392"/>
            <a:ext cx="2944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each agent’s experience into durable context, so every interaction makes the system smarter.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5669280" y="42793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built — our HITL overrides resolve one request, then vanish.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8961120" y="4279392"/>
            <a:ext cx="260878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axis we are behind: a static layer vs. one that improves itself.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502920" y="5340096"/>
            <a:ext cx="11185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TERMS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5596128"/>
            <a:ext cx="2590724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5596128"/>
            <a:ext cx="64008" cy="78638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687568"/>
            <a:ext cx="2298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59344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business concepts relate.</a:t>
            </a:r>
            <a:endParaRPr lang="en-US" sz="830" dirty="0"/>
          </a:p>
        </p:txBody>
      </p:sp>
      <p:sp>
        <p:nvSpPr>
          <p:cNvPr id="47" name="Text 45"/>
          <p:cNvSpPr/>
          <p:nvPr/>
        </p:nvSpPr>
        <p:spPr>
          <a:xfrm>
            <a:off x="685800" y="6126480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Ontology object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3367964" y="5596128"/>
            <a:ext cx="2590724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67964" y="5596128"/>
            <a:ext cx="64008" cy="78638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50" name="Text 48"/>
          <p:cNvSpPr/>
          <p:nvPr/>
        </p:nvSpPr>
        <p:spPr>
          <a:xfrm>
            <a:off x="3550844" y="5687568"/>
            <a:ext cx="2298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550844" y="59344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terms mean.</a:t>
            </a:r>
            <a:endParaRPr lang="en-US" sz="830" dirty="0"/>
          </a:p>
        </p:txBody>
      </p:sp>
      <p:sp>
        <p:nvSpPr>
          <p:cNvPr id="52" name="Text 50"/>
          <p:cNvSpPr/>
          <p:nvPr/>
        </p:nvSpPr>
        <p:spPr>
          <a:xfrm>
            <a:off x="3550844" y="6126480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Inside our Ontology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6233008" y="5596128"/>
            <a:ext cx="2590724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33008" y="5596128"/>
            <a:ext cx="64008" cy="78638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55" name="Text 53"/>
          <p:cNvSpPr/>
          <p:nvPr/>
        </p:nvSpPr>
        <p:spPr>
          <a:xfrm>
            <a:off x="6415888" y="5687568"/>
            <a:ext cx="2298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15888" y="59344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action is allowed.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6415888" y="6126480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Decide / HITL spine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9098051" y="5596128"/>
            <a:ext cx="2590724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98051" y="5596128"/>
            <a:ext cx="64008" cy="786384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60" name="Text 58"/>
          <p:cNvSpPr/>
          <p:nvPr/>
        </p:nvSpPr>
        <p:spPr>
          <a:xfrm>
            <a:off x="9280931" y="5687568"/>
            <a:ext cx="2298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280931" y="59344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context to agents.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280931" y="6126480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runtime itself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Consultancy Services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45175" y="274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COMPARISON · ELEMENT BY ELEMENT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45175" y="4754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FABRIC </a:t>
            </a:r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CONFIDENTIAL · 02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12700">
            <a:solidFill>
              <a:srgbClr val="C9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Fabric vs. </a:t>
            </a:r>
            <a:pPr indent="0" marL="0">
              <a:buNone/>
            </a:pPr>
            <a:r>
              <a:rPr lang="en-US" sz="2900" b="1" i="1" dirty="0">
                <a:solidFill>
                  <a:srgbClr val="9B2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element of the framework (Prukalpa, Atlan) mapped to what we built, sorted into three decisions: keep, build, or do not build.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11185855" cy="7132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38528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FB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complete and in places ahead — including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“skills” layer most lack. Behind only on what makes a substrate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9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one capability, three steps — plus three elements to skip.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98064"/>
            <a:ext cx="1417320" cy="292608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798064"/>
            <a:ext cx="64008" cy="292608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7980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84832" y="2798064"/>
            <a:ext cx="960120" cy="292608"/>
          </a:xfrm>
          <a:prstGeom prst="rect">
            <a:avLst/>
          </a:prstGeom>
          <a:solidFill>
            <a:srgbClr val="F4E4E4"/>
          </a:solidFill>
          <a:ln/>
        </p:spPr>
      </p:sp>
      <p:sp>
        <p:nvSpPr>
          <p:cNvPr id="16" name="Shape 14"/>
          <p:cNvSpPr/>
          <p:nvPr/>
        </p:nvSpPr>
        <p:spPr>
          <a:xfrm>
            <a:off x="2084832" y="2798064"/>
            <a:ext cx="64008" cy="292608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27980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9544" y="2798064"/>
            <a:ext cx="2057400" cy="292608"/>
          </a:xfrm>
          <a:prstGeom prst="rect">
            <a:avLst/>
          </a:prstGeom>
          <a:solidFill>
            <a:srgbClr val="ECEE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9544" y="2798064"/>
            <a:ext cx="64008" cy="292608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20" name="Text 18"/>
          <p:cNvSpPr/>
          <p:nvPr/>
        </p:nvSpPr>
        <p:spPr>
          <a:xfrm>
            <a:off x="3374136" y="2798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BUILD / LATER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163824"/>
            <a:ext cx="11185855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638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ELEMENT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10128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56248" y="3163824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KNOWLEDGE FABRIC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271455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438144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38144"/>
            <a:ext cx="64008" cy="267005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438144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/ data + knowledge graph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3310128" y="3438144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Trusted, AI-ready representation of the firm’s data and knowledge assets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556248" y="3438144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— trusted, change-isolated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253167" y="3479292"/>
            <a:ext cx="1344168" cy="184709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32" name="Text 30"/>
          <p:cNvSpPr/>
          <p:nvPr/>
        </p:nvSpPr>
        <p:spPr>
          <a:xfrm>
            <a:off x="10253167" y="3479292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2920" y="3705149"/>
            <a:ext cx="11185855" cy="267005"/>
          </a:xfrm>
          <a:prstGeom prst="rect">
            <a:avLst/>
          </a:prstGeom>
          <a:solidFill>
            <a:srgbClr val="F4F6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3705149"/>
            <a:ext cx="64008" cy="267005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705149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 + ontology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3310128" y="3705149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definitions and how concepts relate across the business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556248" y="3705149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— shared definitions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253167" y="3746297"/>
            <a:ext cx="1344168" cy="184709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39" name="Text 37"/>
          <p:cNvSpPr/>
          <p:nvPr/>
        </p:nvSpPr>
        <p:spPr>
          <a:xfrm>
            <a:off x="10253167" y="3746297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502920" y="3972154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972154"/>
            <a:ext cx="64008" cy="267005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972154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(procedural knowledge)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3310128" y="3972154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versionable units of how work gets done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556248" y="3972154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— rule-sets per decision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253167" y="4013302"/>
            <a:ext cx="1344168" cy="184709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46" name="Text 44"/>
          <p:cNvSpPr/>
          <p:nvPr/>
        </p:nvSpPr>
        <p:spPr>
          <a:xfrm>
            <a:off x="10253167" y="4013302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02920" y="4239158"/>
            <a:ext cx="11185855" cy="267005"/>
          </a:xfrm>
          <a:prstGeom prst="rect">
            <a:avLst/>
          </a:prstGeom>
          <a:solidFill>
            <a:srgbClr val="F4F6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239158"/>
            <a:ext cx="64008" cy="267005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4239158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/ retrieval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3310128" y="4239158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context to the right agent at the right moment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56248" y="4239158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runtime is the delivery surface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253167" y="4280306"/>
            <a:ext cx="1344168" cy="184709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53" name="Text 51"/>
          <p:cNvSpPr/>
          <p:nvPr/>
        </p:nvSpPr>
        <p:spPr>
          <a:xfrm>
            <a:off x="10253167" y="4280306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502920" y="4506163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4506163"/>
            <a:ext cx="64008" cy="267005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4506163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Norms / approval paths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3310128" y="4506163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acceptable action: permissions and approvals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6556248" y="4506163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→ Auto? → human-review spine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253167" y="4547311"/>
            <a:ext cx="1344168" cy="184709"/>
          </a:xfrm>
          <a:prstGeom prst="rect">
            <a:avLst/>
          </a:prstGeom>
          <a:solidFill>
            <a:srgbClr val="E3EFE7"/>
          </a:solidFill>
          <a:ln/>
        </p:spPr>
      </p:sp>
      <p:sp>
        <p:nvSpPr>
          <p:cNvPr id="60" name="Text 58"/>
          <p:cNvSpPr/>
          <p:nvPr/>
        </p:nvSpPr>
        <p:spPr>
          <a:xfrm>
            <a:off x="10253167" y="4547311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2C6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502920" y="4773168"/>
            <a:ext cx="11185855" cy="267005"/>
          </a:xfrm>
          <a:prstGeom prst="rect">
            <a:avLst/>
          </a:prstGeom>
          <a:solidFill>
            <a:srgbClr val="F4F6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" y="4773168"/>
            <a:ext cx="64008" cy="267005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" y="4773168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/ observability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3310128" y="4773168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drift, lineage, versioning, approval as live concerns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6556248" y="4773168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live; no versioning / rollback yet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253167" y="4814316"/>
            <a:ext cx="1344168" cy="184709"/>
          </a:xfrm>
          <a:prstGeom prst="rect">
            <a:avLst/>
          </a:prstGeom>
          <a:solidFill>
            <a:srgbClr val="F7F0DC"/>
          </a:solidFill>
          <a:ln/>
        </p:spPr>
      </p:sp>
      <p:sp>
        <p:nvSpPr>
          <p:cNvPr id="67" name="Text 65"/>
          <p:cNvSpPr/>
          <p:nvPr/>
        </p:nvSpPr>
        <p:spPr>
          <a:xfrm>
            <a:off x="10253167" y="4814316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→ BUILD</a:t>
            </a:r>
            <a:endParaRPr lang="en-US" sz="760" dirty="0"/>
          </a:p>
        </p:txBody>
      </p:sp>
      <p:sp>
        <p:nvSpPr>
          <p:cNvPr id="68" name="Shape 66"/>
          <p:cNvSpPr/>
          <p:nvPr/>
        </p:nvSpPr>
        <p:spPr>
          <a:xfrm>
            <a:off x="502920" y="5040173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" y="5040173"/>
            <a:ext cx="64008" cy="267005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70" name="Text 68"/>
          <p:cNvSpPr/>
          <p:nvPr/>
        </p:nvSpPr>
        <p:spPr>
          <a:xfrm>
            <a:off x="685800" y="5040173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lifecycle (SDLC)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3310128" y="5040173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created, tested, approved, deployed, retired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6556248" y="5040173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versioning — not yet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253167" y="5081321"/>
            <a:ext cx="1344168" cy="184709"/>
          </a:xfrm>
          <a:prstGeom prst="rect">
            <a:avLst/>
          </a:prstGeom>
          <a:solidFill>
            <a:srgbClr val="F4E4E4"/>
          </a:solidFill>
          <a:ln/>
        </p:spPr>
      </p:sp>
      <p:sp>
        <p:nvSpPr>
          <p:cNvPr id="74" name="Text 72"/>
          <p:cNvSpPr/>
          <p:nvPr/>
        </p:nvSpPr>
        <p:spPr>
          <a:xfrm>
            <a:off x="10253167" y="5081321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· 1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502920" y="5307178"/>
            <a:ext cx="11185855" cy="267005"/>
          </a:xfrm>
          <a:prstGeom prst="rect">
            <a:avLst/>
          </a:prstGeom>
          <a:solidFill>
            <a:srgbClr val="F4F6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" y="5307178"/>
            <a:ext cx="64008" cy="267005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" y="5307178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learning loops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3310128" y="5307178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promoted into durable, reusable context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6556248" y="5307178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 capture + promotion — not yet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0253167" y="5348326"/>
            <a:ext cx="1344168" cy="184709"/>
          </a:xfrm>
          <a:prstGeom prst="rect">
            <a:avLst/>
          </a:prstGeom>
          <a:solidFill>
            <a:srgbClr val="F4E4E4"/>
          </a:solidFill>
          <a:ln/>
        </p:spPr>
      </p:sp>
      <p:sp>
        <p:nvSpPr>
          <p:cNvPr id="81" name="Text 79"/>
          <p:cNvSpPr/>
          <p:nvPr/>
        </p:nvSpPr>
        <p:spPr>
          <a:xfrm>
            <a:off x="10253167" y="5348326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· 2–3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502920" y="5574182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2920" y="5574182"/>
            <a:ext cx="64008" cy="267005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84" name="Text 82"/>
          <p:cNvSpPr/>
          <p:nvPr/>
        </p:nvSpPr>
        <p:spPr>
          <a:xfrm>
            <a:off x="685800" y="5574182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as a separate layer</a:t>
            </a:r>
            <a:endParaRPr lang="en-US" sz="840" dirty="0"/>
          </a:p>
        </p:txBody>
      </p:sp>
      <p:sp>
        <p:nvSpPr>
          <p:cNvPr id="85" name="Text 83"/>
          <p:cNvSpPr/>
          <p:nvPr/>
        </p:nvSpPr>
        <p:spPr>
          <a:xfrm>
            <a:off x="3310128" y="5574182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standalone delivery tier above the substrate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6556248" y="5574182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our runtime — would only rename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0253167" y="5615330"/>
            <a:ext cx="1344168" cy="184709"/>
          </a:xfrm>
          <a:prstGeom prst="rect">
            <a:avLst/>
          </a:prstGeom>
          <a:solidFill>
            <a:srgbClr val="ECEEF4"/>
          </a:solidFill>
          <a:ln/>
        </p:spPr>
      </p:sp>
      <p:sp>
        <p:nvSpPr>
          <p:cNvPr id="88" name="Text 86"/>
          <p:cNvSpPr/>
          <p:nvPr/>
        </p:nvSpPr>
        <p:spPr>
          <a:xfrm>
            <a:off x="10253167" y="5615330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BUILD</a:t>
            </a:r>
            <a:endParaRPr lang="en-US" sz="760" dirty="0"/>
          </a:p>
        </p:txBody>
      </p:sp>
      <p:sp>
        <p:nvSpPr>
          <p:cNvPr id="89" name="Shape 87"/>
          <p:cNvSpPr/>
          <p:nvPr/>
        </p:nvSpPr>
        <p:spPr>
          <a:xfrm>
            <a:off x="502920" y="5841187"/>
            <a:ext cx="11185855" cy="267005"/>
          </a:xfrm>
          <a:prstGeom prst="rect">
            <a:avLst/>
          </a:prstGeom>
          <a:solidFill>
            <a:srgbClr val="F4F6FA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2920" y="5841187"/>
            <a:ext cx="64008" cy="267005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" y="5841187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knowledge ingestion</a:t>
            </a:r>
            <a:endParaRPr lang="en-US" sz="840" dirty="0"/>
          </a:p>
        </p:txBody>
      </p:sp>
      <p:sp>
        <p:nvSpPr>
          <p:cNvPr id="92" name="Text 90"/>
          <p:cNvSpPr/>
          <p:nvPr/>
        </p:nvSpPr>
        <p:spPr>
          <a:xfrm>
            <a:off x="3310128" y="5841187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voice, positioning as governed context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6556248" y="5841187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relevant to rule-driven decisions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0253167" y="5882335"/>
            <a:ext cx="1344168" cy="184709"/>
          </a:xfrm>
          <a:prstGeom prst="rect">
            <a:avLst/>
          </a:prstGeom>
          <a:solidFill>
            <a:srgbClr val="ECEEF4"/>
          </a:solidFill>
          <a:ln/>
        </p:spPr>
      </p:sp>
      <p:sp>
        <p:nvSpPr>
          <p:cNvPr id="95" name="Text 93"/>
          <p:cNvSpPr/>
          <p:nvPr/>
        </p:nvSpPr>
        <p:spPr>
          <a:xfrm>
            <a:off x="10253167" y="5882335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BUILD</a:t>
            </a:r>
            <a:endParaRPr lang="en-US" sz="760" dirty="0"/>
          </a:p>
        </p:txBody>
      </p:sp>
      <p:sp>
        <p:nvSpPr>
          <p:cNvPr id="96" name="Shape 94"/>
          <p:cNvSpPr/>
          <p:nvPr/>
        </p:nvSpPr>
        <p:spPr>
          <a:xfrm>
            <a:off x="502920" y="6108192"/>
            <a:ext cx="11185855" cy="267005"/>
          </a:xfrm>
          <a:prstGeom prst="rect">
            <a:avLst/>
          </a:prstGeom>
          <a:solidFill>
            <a:srgbClr val="FFFFFF"/>
          </a:solidFill>
          <a:ln w="6350">
            <a:solidFill>
              <a:srgbClr val="C9CFD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2920" y="6108192"/>
            <a:ext cx="64008" cy="267005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98" name="Text 96"/>
          <p:cNvSpPr/>
          <p:nvPr/>
        </p:nvSpPr>
        <p:spPr>
          <a:xfrm>
            <a:off x="685800" y="6108192"/>
            <a:ext cx="24414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4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context mining</a:t>
            </a:r>
            <a:endParaRPr lang="en-US" sz="840" dirty="0"/>
          </a:p>
        </p:txBody>
      </p:sp>
      <p:sp>
        <p:nvSpPr>
          <p:cNvPr id="99" name="Text 97"/>
          <p:cNvSpPr/>
          <p:nvPr/>
        </p:nvSpPr>
        <p:spPr>
          <a:xfrm>
            <a:off x="3310128" y="6108192"/>
            <a:ext cx="30632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i="1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Reverse-engineering context from logs and traces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6556248" y="6108192"/>
            <a:ext cx="3550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at our scale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0253167" y="6149340"/>
            <a:ext cx="1344168" cy="184709"/>
          </a:xfrm>
          <a:prstGeom prst="rect">
            <a:avLst/>
          </a:prstGeom>
          <a:solidFill>
            <a:srgbClr val="ECEE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253167" y="6149340"/>
            <a:ext cx="134416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647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Consultancy Services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45175" y="274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DECISIONS THAT NEED 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45175" y="4754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FABRIC </a:t>
            </a:r>
            <a:pPr algn="r" indent="0" marL="0">
              <a:buNone/>
            </a:pPr>
            <a:r>
              <a:rPr lang="en-US" sz="900" b="1" spc="200" kern="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CONFIDENTIAL · 03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382512"/>
            <a:ext cx="11185855" cy="0"/>
          </a:xfrm>
          <a:prstGeom prst="line">
            <a:avLst/>
          </a:prstGeom>
          <a:noFill/>
          <a:ln w="12700">
            <a:solidFill>
              <a:srgbClr val="C9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Tata Consultancy Services Limited. All rights reserved. · TCS Confidential.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build — </a:t>
            </a:r>
            <a:pPr indent="0" marL="0">
              <a:buNone/>
            </a:pPr>
            <a:r>
              <a:rPr lang="en-US" sz="2900" b="1" i="1" dirty="0">
                <a:solidFill>
                  <a:srgbClr val="9B2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to skip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capability we are missing (built in three steps), and the three elements we deliberately leave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5897880" cy="329184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ONE CAPABILITY, THREE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5897880" cy="987552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5786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versioning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712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versions; every request records the version it ran. Edits go through a gate, never in-place.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 change-isolation; closes most of the governance gap.</a:t>
            </a:r>
            <a:pPr indent="0" marL="0">
              <a:buNone/>
            </a:pPr>
            <a:r>
              <a:rPr lang="en-US" sz="800" b="1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FOUNDATION · START HERE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5897880" cy="987552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739896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6850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override capture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9776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what the reviewer decided and the case features that drove it — instead of discarding after one request.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371600" y="43616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Cheap; the raw material every compounding step needs.</a:t>
            </a:r>
            <a:pPr indent="0" marL="0">
              <a:buNone/>
            </a:pPr>
            <a:r>
              <a:rPr lang="en-US" sz="800" b="1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LOW EFFORT · DEPENDS ON 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4681728"/>
            <a:ext cx="5897880" cy="987552"/>
          </a:xfrm>
          <a:prstGeom prst="rect">
            <a:avLst/>
          </a:prstGeom>
          <a:solidFill>
            <a:srgbClr val="F4F6FA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479145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/ certification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0840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override patterns become a new Scenario version — the next matching request never reaches a human.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371600" y="54681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the tenth request smarter than the first.</a:t>
            </a:r>
            <a:pPr indent="0" marL="0">
              <a:buNone/>
            </a:pPr>
            <a:r>
              <a:rPr lang="en-US" sz="800" b="1" dirty="0">
                <a:solidFill>
                  <a:srgbClr val="9B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PAYOFF · BUILDS ON 1 &amp; 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12280" y="2011680"/>
            <a:ext cx="4876495" cy="329184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2011680"/>
            <a:ext cx="4510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BUILD / LATER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468880"/>
            <a:ext cx="4876495" cy="987552"/>
          </a:xfrm>
          <a:prstGeom prst="rect">
            <a:avLst/>
          </a:prstGeom>
          <a:solidFill>
            <a:srgbClr val="ECEEF4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2468880"/>
            <a:ext cx="82296" cy="987552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34" name="Text 32"/>
          <p:cNvSpPr/>
          <p:nvPr/>
        </p:nvSpPr>
        <p:spPr>
          <a:xfrm>
            <a:off x="7068312" y="2587752"/>
            <a:ext cx="4373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layer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68312" y="2926080"/>
            <a:ext cx="1325880" cy="237744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926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68312" y="3182112"/>
            <a:ext cx="4373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runtime already is the activation surface; a separate layer would only rename it.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12280" y="3575304"/>
            <a:ext cx="4876495" cy="987552"/>
          </a:xfrm>
          <a:prstGeom prst="rect">
            <a:avLst/>
          </a:prstGeom>
          <a:solidFill>
            <a:srgbClr val="ECEEF4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3575304"/>
            <a:ext cx="82296" cy="987552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40" name="Text 38"/>
          <p:cNvSpPr/>
          <p:nvPr/>
        </p:nvSpPr>
        <p:spPr>
          <a:xfrm>
            <a:off x="7068312" y="3694176"/>
            <a:ext cx="4373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knowledge ingestion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068312" y="4032504"/>
            <a:ext cx="1325880" cy="237744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42" name="Text 40"/>
          <p:cNvSpPr/>
          <p:nvPr/>
        </p:nvSpPr>
        <p:spPr>
          <a:xfrm>
            <a:off x="7068312" y="403250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IRRELEVANT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68312" y="4288536"/>
            <a:ext cx="4373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open-ended “what is the company trying to do” questions — not our bounded, rule-driven decisions.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12280" y="4681728"/>
            <a:ext cx="4876495" cy="987552"/>
          </a:xfrm>
          <a:prstGeom prst="rect">
            <a:avLst/>
          </a:prstGeom>
          <a:solidFill>
            <a:srgbClr val="ECEEF4"/>
          </a:solidFill>
          <a:ln w="12700">
            <a:solidFill>
              <a:srgbClr val="C9CF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2280" y="4681728"/>
            <a:ext cx="82296" cy="987552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46" name="Text 44"/>
          <p:cNvSpPr/>
          <p:nvPr/>
        </p:nvSpPr>
        <p:spPr>
          <a:xfrm>
            <a:off x="7068312" y="4800600"/>
            <a:ext cx="4373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context mining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068312" y="5138928"/>
            <a:ext cx="1325880" cy="237744"/>
          </a:xfrm>
          <a:prstGeom prst="rect">
            <a:avLst/>
          </a:prstGeom>
          <a:solidFill>
            <a:srgbClr val="64708A"/>
          </a:solidFill>
          <a:ln/>
        </p:spPr>
      </p:sp>
      <p:sp>
        <p:nvSpPr>
          <p:cNvPr id="48" name="Text 46"/>
          <p:cNvSpPr/>
          <p:nvPr/>
        </p:nvSpPr>
        <p:spPr>
          <a:xfrm>
            <a:off x="7068312" y="51389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68312" y="5394960"/>
            <a:ext cx="4373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Valuable at hundreds of scenarios; premature now. A roadmap item once scale justifies it.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02920" y="5797296"/>
            <a:ext cx="11185855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" y="5797296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NET:  </a:t>
            </a:r>
            <a:pPr indent="0" marL="0">
              <a:buNone/>
            </a:pPr>
            <a:r>
              <a:rPr lang="en-US" sz="1250" i="1" dirty="0">
                <a:solidFill>
                  <a:srgbClr val="E4E9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elements comparable, 3 to build (one capability), 3 deliberately out. We are adding the single missing thing — not catching up on a list.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Fabric vs. Context-Layer Framework — Comparison</dc:title>
  <dc:subject>PptxGenJS Presentation</dc:subject>
  <dc:creator>TCS</dc:creator>
  <cp:lastModifiedBy>TCS</cp:lastModifiedBy>
  <cp:revision>1</cp:revision>
  <dcterms:created xsi:type="dcterms:W3CDTF">2026-06-08T21:25:19Z</dcterms:created>
  <dcterms:modified xsi:type="dcterms:W3CDTF">2026-06-08T21:25:20Z</dcterms:modified>
</cp:coreProperties>
</file>