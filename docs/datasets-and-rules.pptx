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KNOWLEDGE FABRIC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194560"/>
            <a:ext cx="71323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F2937"/>
                </a:solidFill>
                <a:latin typeface="Calibri"/>
              </a:rPr>
              <a:t>Datasets &amp; rules</a:t>
            </a:r>
          </a:p>
          <a:p>
            <a:pPr algn="l"/>
            <a:r>
              <a:rPr sz="2000" b="0">
                <a:solidFill>
                  <a:srgbClr val="3127A8"/>
                </a:solidFill>
                <a:latin typeface="Calibri"/>
              </a:rPr>
              <a:t>What the agent sees, and how decisions get made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5029200"/>
            <a:ext cx="7132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Reference deck for domain experts</a:t>
            </a:r>
          </a:p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Datasets that feed the agent + rules the system enforces.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Calibri"/>
              </a:rPr>
              <a:t>HOW TO READ THIS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Where to look, what to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69494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The agent never invents data. Every fact on a case card comes from one of the data sources in Section A.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Concepts the agent knows about (Supplier, Carrier, SanctionsProximity…) are defined in Section B's ontology.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Scenarios in Section C are the work the agent can do. Each is triggered by an operator prompt and follows a fixed evidence-gathering recipe.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Rules in Section D are the guardrails: when the agent acts alone, when the reviewer is asked, when the platform learns.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If you spot a dataset that's wrong, a scenario that's missing a step, or a rule that doesn't match your domain — that's exactly the feedback we want.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828800"/>
            <a:ext cx="3840480" cy="4572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011680"/>
            <a:ext cx="34747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AUDIENCE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Procurement &amp; logistics domain experts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PURPOSE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Verify the agent's worldview against yours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OUT OF SCOPE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Code, schemas, SQL — kept business-first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SECTION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Data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EEF2FF"/>
                </a:solidFill>
                <a:latin typeface="Calibri"/>
              </a:rPr>
              <a:t>Everything the agent shows you started as a row in one of these. If something is missing or stale here, it'll be missing in the case too.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Calibri"/>
              </a:rPr>
              <a:t>SECTION A ·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14 data sources, four kinds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69494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Spreadsheets (CSV) for hand-curated master data: products, carriers, lanes, ports, rate cards.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Operational stores (SQLite) for live state that changes when the agent acts: bookings, demurrage charges, prior decisions.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Vector store for free-text policy documents — semantic search over SOP excerpts.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Graph (Neo4j) for relationships: ownership chains, carrier alliances, sanctions proximity walks.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A single test API (jsonplaceholder.com) confirms the HTTP connector works without needing real keys.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828800"/>
            <a:ext cx="3840480" cy="4572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011680"/>
            <a:ext cx="34747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WHERE IT LIVES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backend/data/sources.yaml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WHO OWNS CURATION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Domain SMEs (you)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REFRESH CADENCE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On-demand for now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Calibri"/>
              </a:rPr>
              <a:t>A · SPREADSHEETS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Procurement master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69494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Products master (15 SKUs incl. encryption-classified items). Used by supplier onboarding to check what the candidate actually makes.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Sanctions list (~30 OFAC-style entities). Schema matches the real SDN feed so swapping in the live one is a config change.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Both are CSVs an SME can edit in Excel. Changes take effect next time the backend reloads.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828800"/>
            <a:ext cx="3840480" cy="4572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011680"/>
            <a:ext cx="34747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FILES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products.csv</a:t>
            </a:r>
            <a:br/>
            <a:r>
              <a:rPr sz="1200" b="0">
                <a:solidFill>
                  <a:srgbClr val="1F2937"/>
                </a:solidFill>
                <a:latin typeface="Calibri"/>
              </a:rPr>
              <a:t>sanctions_sdn_sample.csv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BACKS ONTOLOGY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tcs_core.Product</a:t>
            </a:r>
            <a:br/>
            <a:r>
              <a:rPr sz="1200" b="0">
                <a:solidFill>
                  <a:srgbClr val="1F2937"/>
                </a:solidFill>
                <a:latin typeface="Calibri"/>
              </a:rPr>
              <a:t>tcs_core.SanctionedEntity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DEMO SCENARIOS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SC-PP-008, SC-TC-008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Calibri"/>
              </a:rPr>
              <a:t>A · SPREADSHEETS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Logistics master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69494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Carriers (25 rows, real SCAC codes) — who can move freight, their alliance, their reliability score.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Lanes (40 origin-destination corridors) — the routes shipments travel on.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Ports (40 UN/LOCODEs with live operational state) — congestion, closures.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Freight rates (~60 rows: lane × carrier × container type, mix of contract + spot pricing).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Customer orders (~750 rows) — drives the SLA-risk scenarios via the penalty_per_day_usd field.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828800"/>
            <a:ext cx="3840480" cy="4572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011680"/>
            <a:ext cx="34747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FILES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carriers.csv, lanes.csv,</a:t>
            </a:r>
            <a:br/>
            <a:r>
              <a:rPr sz="1200" b="0">
                <a:solidFill>
                  <a:srgbClr val="1F2937"/>
                </a:solidFill>
                <a:latin typeface="Calibri"/>
              </a:rPr>
              <a:t>ports.csv, freight_rates.csv,</a:t>
            </a:r>
            <a:br/>
            <a:r>
              <a:rPr sz="1200" b="0">
                <a:solidFill>
                  <a:srgbClr val="1F2937"/>
                </a:solidFill>
                <a:latin typeface="Calibri"/>
              </a:rPr>
              <a:t>customer_orders.csv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REFRESH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Hand-curated; future: pull from a live OMS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DEMO SCENARIOS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SC-LN-002 mode switch,</a:t>
            </a:r>
            <a:br/>
            <a:r>
              <a:rPr sz="1200" b="0">
                <a:solidFill>
                  <a:srgbClr val="1F2937"/>
                </a:solidFill>
                <a:latin typeface="Calibri"/>
              </a:rPr>
              <a:t>SC-LN-PORT-DISRUPTION-020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Calibri"/>
              </a:rPr>
              <a:t>A · SPREADSHEETS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Live shipment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69494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Shipments (~3,000 rows) — every shipment we've booked + its live status snapshot.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Shipment events (~19k rows, ~6 per shipment) — milestone + exception stream (gate-out, vessel-load, arrived, demurrage-accrual, etc.).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Per-SKU performance aggregates (3 quarters × 15 SKUs) — used by the carrier scorecard scenario.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These mirror what a live tracking system feed would look like; the agent reads them in the same shape.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828800"/>
            <a:ext cx="3840480" cy="4572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011680"/>
            <a:ext cx="34747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FILES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shipments.csv,</a:t>
            </a:r>
            <a:br/>
            <a:r>
              <a:rPr sz="1200" b="0">
                <a:solidFill>
                  <a:srgbClr val="1F2937"/>
                </a:solidFill>
                <a:latin typeface="Calibri"/>
              </a:rPr>
              <a:t>shipment_events.csv,</a:t>
            </a:r>
            <a:br/>
            <a:r>
              <a:rPr sz="1200" b="0">
                <a:solidFill>
                  <a:srgbClr val="1F2937"/>
                </a:solidFill>
                <a:latin typeface="Calibri"/>
              </a:rPr>
              <a:t>shipment_performance.csv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VOLUME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~22k rows total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DEMO SCENARIOS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Status lookup, trace,</a:t>
            </a:r>
            <a:br/>
            <a:r>
              <a:rPr sz="1200" b="0">
                <a:solidFill>
                  <a:srgbClr val="1F2937"/>
                </a:solidFill>
                <a:latin typeface="Calibri"/>
              </a:rPr>
              <a:t>port disruption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Calibri"/>
              </a:rPr>
              <a:t>A · OPERATIONAL STORES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Write targets: where the agent 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69494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Logistics SQLite holds bookings (the active state of every shipment) and demurrage charges. When the agent re-tenders a booking or waives a charge, it writes here.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Governance SQLite holds prior reviewer decisions. The agent reads this to show "here's how reviewers handled similar cases before."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Both are append-mostly — old rows are preserved so the audit trail stays honest.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A Postgres mirror of governance exists for swap-in if SQLite ever becomes a bottleneck. Same schema.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828800"/>
            <a:ext cx="3840480" cy="4572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011680"/>
            <a:ext cx="34747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FILES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logistics.sqlite,</a:t>
            </a:r>
            <a:br/>
            <a:r>
              <a:rPr sz="1200" b="0">
                <a:solidFill>
                  <a:srgbClr val="1F2937"/>
                </a:solidFill>
                <a:latin typeface="Calibri"/>
              </a:rPr>
              <a:t>governance.sqlite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WRITE ACTIONS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retender_booking,</a:t>
            </a:r>
            <a:br/>
            <a:r>
              <a:rPr sz="1200" b="0">
                <a:solidFill>
                  <a:srgbClr val="1F2937"/>
                </a:solidFill>
                <a:latin typeface="Calibri"/>
              </a:rPr>
              <a:t>waive_demurrage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BACKS ONTOLOGY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logistics.Booking,</a:t>
            </a:r>
            <a:br/>
            <a:r>
              <a:rPr sz="1200" b="0">
                <a:solidFill>
                  <a:srgbClr val="1F2937"/>
                </a:solidFill>
                <a:latin typeface="Calibri"/>
              </a:rPr>
              <a:t>tcs_core.PriorOverride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Calibri"/>
              </a:rPr>
              <a:t>A · SEMANTIC +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Policy library and the supply-chain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69494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Policy corpus: 5 markdown SOP excerpts indexed for semantic search. When a scenario asks "is this onboarding consistent with our SOP?", the agent pulls the most-relevant excerpts.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Neo4j graph: 280 nodes covering supplier corporate networks, carrier alliances, and ownership chains. Lets the agent answer "is this supplier 3 hops from a sanctioned entity?" with one query.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The graph is where the heavy lifting happens for SC-PP-008 (sanctions proximity), SC-PP-UBO-023 (ownership walk), SC-PP-CARRIER-EXP-022 (alliance reach).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Neo4j is also why "5 sources fused in one case" works — graph queries traverse + return enriched rows in one shot.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828800"/>
            <a:ext cx="3840480" cy="4572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011680"/>
            <a:ext cx="34747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FILES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policy_corpus/ (markdown),</a:t>
            </a:r>
            <a:br/>
            <a:r>
              <a:rPr sz="1200" b="0">
                <a:solidFill>
                  <a:srgbClr val="1F2937"/>
                </a:solidFill>
                <a:latin typeface="Calibri"/>
              </a:rPr>
              <a:t>Neo4j (external service)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BACKS ONTOLOGY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tcs_core.PolicyExcerpt,</a:t>
            </a:r>
            <a:br/>
            <a:r>
              <a:rPr sz="1200" b="0">
                <a:solidFill>
                  <a:srgbClr val="1F2937"/>
                </a:solidFill>
                <a:latin typeface="Calibri"/>
              </a:rPr>
              <a:t>supply_chain.* (most)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DEMO SCENARIOS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SC-PP-008,</a:t>
            </a:r>
            <a:br/>
            <a:r>
              <a:rPr sz="1200" b="0">
                <a:solidFill>
                  <a:srgbClr val="1F2937"/>
                </a:solidFill>
                <a:latin typeface="Calibri"/>
              </a:rPr>
              <a:t>SC-PP-UBO-023,</a:t>
            </a:r>
            <a:br/>
            <a:r>
              <a:rPr sz="1200" b="0">
                <a:solidFill>
                  <a:srgbClr val="1F2937"/>
                </a:solidFill>
                <a:latin typeface="Calibri"/>
              </a:rPr>
              <a:t>SC-PP-CARRIER-EXP-022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SECTION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Ontology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EEF2FF"/>
                </a:solidFill>
                <a:latin typeface="Calibri"/>
              </a:rPr>
              <a:t>The vocabulary the agent uses. Concepts the platform understands — Supplier, Carrier, SanctionsProximity — and where each concept's data lives.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Calibri"/>
              </a:rPr>
              <a:t>SECTION B ·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Why ontology matters to a domain expert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69494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Every fact card in a case has a class label (e.g. SanctionsProximity). The ontology is the dictionary that says what each class means.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Ontology lives separately from data sources so the same concept (Supplier) can come from CSV today and the live ERP tomorrow without scenarios needing to change.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If a concept is missing — "we also care about beneficial owners' citizenship" — that's an ontology change, not a data change.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Four families today: tcs_core (cross-domain), supply_chain (procurement-side), logistics (movement-side), and a demo-only variant for sandbox 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828800"/>
            <a:ext cx="3840480" cy="4572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011680"/>
            <a:ext cx="34747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TOTAL CLASSES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27 across 4 families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WHERE IT LIVES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backend/ontologies/*.yaml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EDITABLE BY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Engineering + SME pairing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Calibri"/>
              </a:rPr>
              <a:t>B · TCS_CORE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Cross-domain core — used by every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69494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Product — anything we buy. Hooks into the products spreadsheet.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SanctionedEntity — a single hit from the OFAC list. Used for direct sanctions checks.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PriorOverride — a past reviewer decision. The agent uses these as precedent ("reviewers rejected 4 similar cases").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PolicyExcerpt — a chunk of SOP text retrievable via semantic search.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828800"/>
            <a:ext cx="3840480" cy="4572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011680"/>
            <a:ext cx="34747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USED BY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All HITL scenarios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OWNED BY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Cross-functional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4 CLASSES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Product, SanctionedEntity,</a:t>
            </a:r>
            <a:br/>
            <a:r>
              <a:rPr sz="1200" b="0">
                <a:solidFill>
                  <a:srgbClr val="1F2937"/>
                </a:solidFill>
                <a:latin typeface="Calibri"/>
              </a:rPr>
              <a:t>PriorOverride, PolicyExcerpt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Calibri"/>
              </a:rPr>
              <a:t>B · SUPPLY_CHAIN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Procurement 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69494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Supplier — the candidate or active vendor. Backed by the graph.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PurchaseOrder — what we've bought from them.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SanctionsProximity — a walk from a supplier through ownership edges to any sanctioned entity. Hop distance matters.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UltimateBeneficialOwner — the human(s) ultimately behind a corporate chain. Used for tier-1 onboarding scrutiny.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CarrierExposure — when an SDN listing affects a carrier we use indirectly via supplier choice.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AlternativeSupplier and TierSupplier — for resilience scenarios (primary blocked, multi-tier visibility).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828800"/>
            <a:ext cx="3840480" cy="4572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011680"/>
            <a:ext cx="34747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WHERE ITS DATA LIVES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Mostly Neo4j graph,</a:t>
            </a:r>
            <a:br/>
            <a:r>
              <a:rPr sz="1200" b="0">
                <a:solidFill>
                  <a:srgbClr val="1F2937"/>
                </a:solidFill>
                <a:latin typeface="Calibri"/>
              </a:rPr>
              <a:t>plus suppliers.csv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USED BY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All SC-PP-* scenarios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10 CLASSES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(listed in body)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Calibri"/>
              </a:rPr>
              <a:t>B · LOGISTICS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Movement 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69494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Shipment + ShipmentEvent — what's moving and what's happened to it.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Carrier + Lane + Port — the transport network.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Booking + BookingHistory — our active commitments (the write target for re-tender actions).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FreightRate — what we'd pay today on a given route, by carrier and container type.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CustomerOrder — the demand we're fulfilling, including SLA + penalty terms.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DemurrageCharge — penalty billed by ports when containers sit too long. Targeted by the auto-dispute scenario.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828800"/>
            <a:ext cx="3840480" cy="4572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011680"/>
            <a:ext cx="34747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WHERE ITS DATA LIVES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CSVs + logistics.sqlite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USED BY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All SC-LN-* scenarios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11 CLASSES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(listed in body)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SECTION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EEF2FF"/>
                </a:solidFill>
                <a:latin typeface="Calibri"/>
              </a:rPr>
              <a:t>Each scenario is a recipe the agent follows: triggered by a prompt, gathers evidence from the data sources via the ontology, and presents a decision to either a reviewer (HITL) or applies a guardrail (autonomous).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Calibri"/>
              </a:rPr>
              <a:t>SECTION C ·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Anatomy of a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69494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Triggered by match_keywords — phrases the operator might type. The agent picks the highest-confidence scenario.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Runs three stages: (1) Policy &amp; scope — what the agent is supposed to do, (2) Agent gathered — facts pulled from data sources, (3) For your decision — what the reviewer sees.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Each stage's facts come from ontology_queries: the platform version of "go look up X from source Y where Z".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Settles via rationale_reasons (canned options the reviewer picks) + closing_messages (what the operator and audit log see).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828800"/>
            <a:ext cx="3840480" cy="4572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011680"/>
            <a:ext cx="34747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TOTAL SHIPPED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28 scenarios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BY DOMAIN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7 procurement,</a:t>
            </a:r>
            <a:br/>
            <a:r>
              <a:rPr sz="1200" b="0">
                <a:solidFill>
                  <a:srgbClr val="1F2937"/>
                </a:solidFill>
                <a:latin typeface="Calibri"/>
              </a:rPr>
              <a:t>11 logistics,</a:t>
            </a:r>
            <a:br/>
            <a:r>
              <a:rPr sz="1200" b="0">
                <a:solidFill>
                  <a:srgbClr val="1F2937"/>
                </a:solidFill>
                <a:latin typeface="Calibri"/>
              </a:rPr>
              <a:t>2 trade compliance,</a:t>
            </a:r>
            <a:br/>
            <a:r>
              <a:rPr sz="1200" b="0">
                <a:solidFill>
                  <a:srgbClr val="1F2937"/>
                </a:solidFill>
                <a:latin typeface="Calibri"/>
              </a:rPr>
              <a:t>8 ontology lookups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HITL VS AUTONOMOUS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21 HITL, 7 autonomous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SECTION C-PP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Procurement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EEF2FF"/>
                </a:solidFill>
                <a:latin typeface="Calibri"/>
              </a:rPr>
              <a:t>7 scenarios across supplier onboarding, ownership disclosure, alternative-supplier discovery, and trade-compliance containment.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Calibri"/>
              </a:rPr>
              <a:t>C · SPOTLIGHT · SC-PP-008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Supplier onboarding — multi-source risk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69494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What the agent does: review Hemlock Precision Castings (SUP-001) for tier-1 supplier onboarding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Decision mode: Human-in-the-loop. Reviewer: Reviewer · procurement.lead.amorales.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Teams headline (notification): "Supplier onboarding · Hemlock Precision Castings"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Triggered by phrases like: onboard with graph, graph-aware onboarding, multi-source onboarding, sanctions proximity, alliance reach (+ 5 more)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828800"/>
            <a:ext cx="3840480" cy="4572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011680"/>
            <a:ext cx="34747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SCENARIO ID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SC-PP-008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DOMAIN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Planning &amp; Procurement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SOURCE FILE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backend/scenarios/SC-PP-008.yaml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Calibri"/>
              </a:rPr>
              <a:t>C · SPOTLIGHT · SC-PP-UBO-023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Ultimate Beneficial Owner disclosure — supplier ownership walk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69494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What the agent does: disclose the ultimate beneficial ownership chain for SUP-008 (Onyx Heavy Industries)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Decision mode: Human-in-the-loop. Reviewer: Reviewer · audit.lead.tnaidu.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Teams headline (notification): "UBO disclosure · Onyx Heavy Industries"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Triggered by phrases like: ubo disclosure, ultimate beneficial owner, who owns this supplier, ownership chain, supplier ownership walk (+ 5 more)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828800"/>
            <a:ext cx="3840480" cy="4572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011680"/>
            <a:ext cx="34747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SCENARIO ID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SC-PP-UBO-023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DOMAIN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Planning &amp; Procurement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SOURCE FILE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backend/scenarios/SC-PP-UBO-023.yaml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Calibri"/>
              </a:rPr>
              <a:t>C · SPOTLIGHT · SC-PP-CARRIER-EXP-022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Carrier exposure on new SDN listing — multi-source containment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69494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What the agent does: fan out from newly-listed SDN-NET-001 (Shengli Shell Trading) to every exposed carrier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Decision mode: Human-in-the-loop. Reviewer: Reviewer · compliance.lead.kjacobs.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Teams headline (notification): "Carrier exposure · Shengli Shell Trading just listed"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Triggered by phrases like: carrier exposure, sdn just listed, ofac just listed, new sanctions listing, carrier sanctions exposure (+ 5 more)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828800"/>
            <a:ext cx="3840480" cy="4572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011680"/>
            <a:ext cx="34747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SCENARIO ID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SC-PP-CARRIER-EXP-022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DOMAIN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Planning &amp; Procurement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SOURCE FILE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backend/scenarios/SC-PP-CARRIER-EXP-022.yaml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Calibri"/>
              </a:rPr>
              <a:t>C-PP · THE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Other procurement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69494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SC-PP-007 — Supplier onboarding (legacy single-source variant; kept for comparison vs SC-PP-008's multi-source review).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SC-PP-ALT-SUP-024 — Alternative-supplier discovery when the primary supplier is blocked (sanctions, capacity, dispute).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SC-PP-AUTO-014 — Reorder-point adjustment within the autonomous envelope (small SKU stock changes the agent makes without HITL).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SC-PP-TIER-N-025 — Multi-tier supply-chain visibility — agent walks tier-2 and tier-3 suppliers for resilience risk.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828800"/>
            <a:ext cx="3840480" cy="4572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011680"/>
            <a:ext cx="34747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TYPE BREAKDOWN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6 HITL, 1 autonomous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WHO REVIEWS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Procurement lead / category manager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DEMO-READY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SC-PP-008 is the canonical one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SECTION C-LN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Logistics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EEF2FF"/>
                </a:solidFill>
                <a:latin typeface="Calibri"/>
              </a:rPr>
              <a:t>11 scenarios covering mode switches, port disruptions, carrier scorecards, demurrage disputes, shipment lookups + traces, and SLA-risk routing decisions.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Calibri"/>
              </a:rPr>
              <a:t>C · SPOTLIGHT · SC-LN-002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Mode-switch — ocean → air on critical lane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69494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What the agent does: switch shipment S-700412 from ocean to air to recover the schedule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Decision mode: Human-in-the-loop. Reviewer: Reviewer · logistics.planner.lead.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Teams headline (notification): "Ocean → air mode switch · lane CN-DE"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Triggered by phrases like: switch, ocean, air, expedite, mode (+ 7 more)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828800"/>
            <a:ext cx="3840480" cy="4572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011680"/>
            <a:ext cx="34747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SCENARIO ID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SC-LN-002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DOMAIN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Logistics &amp; Network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SOURCE FILE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backend/scenarios/SC-LN-002.yaml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Calibri"/>
              </a:rPr>
              <a:t>C · SPOTLIGHT · SC-LN-PORT-DISRUPTION-020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Port disruption — recommend reroute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69494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What the agent does: Hamburg port congestion is CRITICAL — show what's exposed and recommend reroutes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Decision mode: Human-in-the-loop. Reviewer: Reviewer · logistics.planner.lead.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Teams headline (notification): "Port disruption — Hamburg congestion CRITICAL"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Triggered by phrases like: port, disruption, congestion, reroute, hamburg (+ 10 more)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828800"/>
            <a:ext cx="3840480" cy="4572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011680"/>
            <a:ext cx="34747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SCENARIO ID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SC-LN-PORT-DISRUPTION-020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DOMAIN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Logistics &amp; Network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SOURCE FILE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backend/scenarios/SC-LN-PORT-DISRUPTION-020.yaml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Calibri"/>
              </a:rPr>
              <a:t>C · SPOTLIGHT · SC-LN-DEMURRAGE-AUTO-025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Auto-dispute small demurrage charges (envelope: &lt;$500 + prior wins)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69494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What the agent does: auto-file a dispute on the small demurrage charge DEM-S-700499-SMALL ($385) per the envelope policy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Decision mode: Autonomous. No human review — autonomous via guardrail.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Teams headline (notification): ""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Triggered by phrases like: auto dispute, auto-dispute, small demurrage, low value dispute, auto challenge (+ 2 more)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828800"/>
            <a:ext cx="3840480" cy="4572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011680"/>
            <a:ext cx="34747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SCENARIO ID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SC-LN-DEMURRAGE-AUTO-025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DOMAIN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Logistics &amp; Network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SOURCE FILE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backend/scenarios/SC-LN-DEMURRAGE-AUTO-025.yaml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Calibri"/>
              </a:rPr>
              <a:t>C-LN · THE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Other logistics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69494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SC-LN-CARRIER-SCORECARD-019 — One-stop carrier overview (scorecard + recent shipments). Autonomous lookup.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SC-LN-DEMURRAGE-DISPUTE-024 — Manual demurrage dispute when the charge exceeds the autonomous envelope.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SC-LN-ETA-PUSH-023 — Push updated ETA to the customer system (autonomous).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SC-LN-SLA-RISK-022 — Customer SLA risk: expedite at extra cost or accept the penalty.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SC-LN-STATUS-009 / SC-LN-TRACE-018 — Shipment status + full event-history lookups (autonomous).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SC-LN-TENDER-021 — Re-tender a booking to a new carrier (HITL).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SC-LN-DEMO-RESET-999 — Demo-tooling only: resets booking state between demos.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828800"/>
            <a:ext cx="3840480" cy="4572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011680"/>
            <a:ext cx="34747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TYPE BREAKDOWN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5 HITL, 6 autonomous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WHO REVIEWS HITL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Logistics planner /</a:t>
            </a:r>
            <a:br/>
            <a:r>
              <a:rPr sz="1200" b="0">
                <a:solidFill>
                  <a:srgbClr val="1F2937"/>
                </a:solidFill>
                <a:latin typeface="Calibri"/>
              </a:rPr>
              <a:t>planner lead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DEMO-READY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SC-LN-002, port disruption,</a:t>
            </a:r>
            <a:br/>
            <a:r>
              <a:rPr sz="1200" b="0">
                <a:solidFill>
                  <a:srgbClr val="1F2937"/>
                </a:solidFill>
                <a:latin typeface="Calibri"/>
              </a:rPr>
              <a:t>demurrage auto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Calibri"/>
              </a:rPr>
              <a:t>C-TC · TRADE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Trade-compliance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69494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SC-TC-007 — Trade override for a sanctioned counterparty. Compliance officer reviews the agent's evidence and decides whether to allow or block the transaction.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SC-TC-008 — Live-data variant focused on sanctions hits specifically on encryption-classified products.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Both feed off products_csv + sanctions_csv + the policy corpus. Decision is recorded against the customer-facing audit trail.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828800"/>
            <a:ext cx="3840480" cy="4572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011680"/>
            <a:ext cx="34747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TYPE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Both HITL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REVIEWER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Trade compliance officer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DEMO-READY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SC-TC-008 with the encryption SKU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Calibri"/>
              </a:rPr>
              <a:t>C-ONTO · SELF-SERVICE LOOKUPS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Ontology-lookup scenarios (auto-generated)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69494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Every class with a binding gets a SC-ONTO-{ontology}-{class} lookup scenario, generated from the ontology itself.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Lets an operator type "look up products" and the agent returns rows from products_csv via the tcs_core.Product class.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Autonomous (no reviewer); the goal is fast self-service data exploration, not a decision.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Examples: SC-ONTO-tcs_core-Product, SC-ONTO-supply_chain-Supplier, SC-ONTO-tcs_core-SanctionedEntity.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828800"/>
            <a:ext cx="3840480" cy="4572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011680"/>
            <a:ext cx="34747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COUNT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8 auto-generated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TYPE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All autonomous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OWNED BY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Engineering — admins can add by clicking 'generate' on a class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SECTION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EEF2FF"/>
                </a:solidFill>
                <a:latin typeface="Calibri"/>
              </a:rPr>
              <a:t>The guardrails: when the agent acts alone, when a human is asked, when the platform learns from past behaviour, and what stays immutable for the audit trail.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Calibri"/>
              </a:rPr>
              <a:t>D · AUTONOMOUS ENVELOPES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When the agent acts alone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69494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Each scenario carries an autonomous flag. True = the agent executes the action without HITL once it's gathered the evidence.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Autonomous scenarios still have a guardrail: a policy (e.g. "only for demurrage charges under $500 with a prior-win precedent") that must pass.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If the guardrail fails, the autonomous scenario routes to HITL automatically. Operator sees a guardrail-fired notice card.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All 7 autonomous scenarios today are read-only lookups or very low-stakes writes (ETA push, demurrage auto-dispute).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Adding a new autonomous scenario should be a sign-off conversation, not a quiet engineering change.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828800"/>
            <a:ext cx="3840480" cy="4572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011680"/>
            <a:ext cx="34747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AUTONOMOUS TODAY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7 of 28 scenarios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HIGHEST-STAKES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Demurrage auto-dispute</a:t>
            </a:r>
            <a:br/>
            <a:r>
              <a:rPr sz="1200" b="0">
                <a:solidFill>
                  <a:srgbClr val="1F2937"/>
                </a:solidFill>
                <a:latin typeface="Calibri"/>
              </a:rPr>
              <a:t>(envelope: &lt;$500 + prior wins)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DEFAULT FOR NEW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HITL until proven safe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Calibri"/>
              </a:rPr>
              <a:t>D · PROMOTED PATTERNS (PHASE 3B)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When the platform learns from reviewers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69494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Reviewers can flag up to 3 facts as load-bearing at decision time. The platform stores these as structured signal.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When the same driver (e.g. SanctionsProximity) shows up in many reject decisions on the same scenario, an admin can promote the pattern into the scenario itself.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Promoted patterns surface as an advisory chip on future cases: "in 8 of 8 similar cases, reviewers rejected for this driver." The reviewer is not bound by the suggestion.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Guardrails: minimum 2 cases + 50% share of decision kind by default. Re-checked at promote time, not from the UI's cached view.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Every promote and demote is a new scenario version. Audit trail records who promoted, when, from how many cases.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828800"/>
            <a:ext cx="3840480" cy="4572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011680"/>
            <a:ext cx="34747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WHERE IT SURFACES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Insights modal (admin only),</a:t>
            </a:r>
            <a:br/>
            <a:r>
              <a:rPr sz="1200" b="0">
                <a:solidFill>
                  <a:srgbClr val="1F2937"/>
                </a:solidFill>
                <a:latin typeface="Calibri"/>
              </a:rPr>
              <a:t>advisory chip on cases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REVERSIBLE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Yes — demote button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AUDIT-TRACED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Yes — every change is a</a:t>
            </a:r>
            <a:br/>
            <a:r>
              <a:rPr sz="1200" b="0">
                <a:solidFill>
                  <a:srgbClr val="1F2937"/>
                </a:solidFill>
                <a:latin typeface="Calibri"/>
              </a:rPr>
              <a:t>new scenario version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Calibri"/>
              </a:rPr>
              <a:t>D · SAFETY 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What stays immutable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69494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Every case records the exact scenario version it ran against. Editing a scenario later doesn't retroactively change historical cases.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The audit lineage is append-only. Stage events are written once and never edited or deleted.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Scenario edits create a new version snapshot before the live file is overwritten. Older versions are inspectable in the Version history modal.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Reviewer decisions are immutable once submitted. The only way to change a decision is to start a new replay case (which gets its own audit trail).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Operator-authored YAML comments survive migration byte-for-byte — policy intent doesn't get silently erased.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828800"/>
            <a:ext cx="3840480" cy="4572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011680"/>
            <a:ext cx="34747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WHY THIS MATTERS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Auditors can answer</a:t>
            </a:r>
            <a:br/>
            <a:r>
              <a:rPr sz="1200" b="0">
                <a:solidFill>
                  <a:srgbClr val="1F2937"/>
                </a:solidFill>
                <a:latin typeface="Calibri"/>
              </a:rPr>
              <a:t>"what spec was the agent</a:t>
            </a:r>
            <a:br/>
            <a:r>
              <a:rPr sz="1200" b="0">
                <a:solidFill>
                  <a:srgbClr val="1F2937"/>
                </a:solidFill>
                <a:latin typeface="Calibri"/>
              </a:rPr>
              <a:t>running when this decision</a:t>
            </a:r>
            <a:br/>
            <a:r>
              <a:rPr sz="1200" b="0">
                <a:solidFill>
                  <a:srgbClr val="1F2937"/>
                </a:solidFill>
                <a:latin typeface="Calibri"/>
              </a:rPr>
              <a:t>was made?"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CRASH-SAFE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Yes — mid-save crashes</a:t>
            </a:r>
            <a:br/>
            <a:r>
              <a:rPr sz="1200" b="0">
                <a:solidFill>
                  <a:srgbClr val="1F2937"/>
                </a:solidFill>
                <a:latin typeface="Calibri"/>
              </a:rPr>
              <a:t>heal forward on reboot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CONCURRENT-EDIT SAFE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Yes — serialized writes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Calibri"/>
              </a:rPr>
              <a:t>D ·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Who can do 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69494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Operators submit cases and view their own. They cannot review their own cases or see other operators' cases.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Reviewers (e.g. procurement lead, planner lead) approve / reject / request more info on cases routed to them. They see the full evidence package.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Admins (a smaller group) edit scenarios, view the Insights modal, promote/demote patterns. Their actions all leave a trail.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Auditors are admins with read-only intent — same surface, but the expectation is they don't promote or edit.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828800"/>
            <a:ext cx="3840480" cy="4572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011680"/>
            <a:ext cx="34747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TODAY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Role enforced at the API</a:t>
            </a:r>
            <a:br/>
            <a:r>
              <a:rPr sz="1200" b="0">
                <a:solidFill>
                  <a:srgbClr val="1F2937"/>
                </a:solidFill>
                <a:latin typeface="Calibri"/>
              </a:rPr>
              <a:t>boundary (403 on mismatch)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FUTURE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Per-scenario role gating</a:t>
            </a:r>
            <a:br/>
            <a:r>
              <a:rPr sz="1200" b="0">
                <a:solidFill>
                  <a:srgbClr val="1F2937"/>
                </a:solidFill>
                <a:latin typeface="Calibri"/>
              </a:rPr>
              <a:t>(Phase 4 candidate)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AUDIT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Every state change</a:t>
            </a:r>
            <a:br/>
            <a:r>
              <a:rPr sz="1200" b="0">
                <a:solidFill>
                  <a:srgbClr val="1F2937"/>
                </a:solidFill>
                <a:latin typeface="Calibri"/>
              </a:rPr>
              <a:t>tied to a username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SECTION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Glossary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EEF2FF"/>
                </a:solidFill>
                <a:latin typeface="Calibri"/>
              </a:rPr>
              <a:t>Plain-English definitions for the words this deck uses. Useful as a back-of-the-room reference during a walk-through.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Calibri"/>
              </a:rPr>
              <a:t>E · THE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Words used in this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69494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Case — one operator-initiated unit of work. Has a prompt, a scenario, evidence, and (eventually) a decision.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Scenario — a named recipe for how the agent should handle a kind of work ("onboard a supplier," "switch a shipment mode").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Ontology — the dictionary of concepts (Supplier, Carrier, etc.) the platform understands.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Data source — where rows of data live (a CSV, a SQLite table, the Neo4j graph, a vector store of SOP text).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Lineage — the immutable record of every step the agent took during a case. The audit trail.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Scenario version — every edit produces a new version; old versions stay forever for audit.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828800"/>
            <a:ext cx="3840480" cy="4572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011680"/>
            <a:ext cx="34747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IF YOU FORGET ONE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Open this slide.</a:t>
            </a:r>
            <a:br/>
            <a:r>
              <a:rPr sz="1200" b="0">
                <a:solidFill>
                  <a:srgbClr val="1F2937"/>
                </a:solidFill>
                <a:latin typeface="Calibri"/>
              </a:rPr>
              <a:t>It's the canonical list.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  <a:latin typeface="Calibri"/>
              </a:rPr>
              <a:t>E · PHASE 2 + 3 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Compounding-loop 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69494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Load-bearing fact — one of the 1–3 evidence cards the reviewer flags as having tipped their decision.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Highlight — the captured (source, ontology_type, id) reference for a load-bearing fact.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Pattern — across many cases, a recurring (scenario, decision, ontology_type) combination flagged as load-bearing.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Promote — admin action that writes a pattern into the scenario YAML so future cases see an advisory chip.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Demote — the inverse of promote. Reversible audit trail.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74151"/>
                </a:solidFill>
                <a:latin typeface="Calibri"/>
              </a:rPr>
              <a:t>•  Advisory chip — the banner above the evidence map on a case where a promoted pattern fires.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828800"/>
            <a:ext cx="3840480" cy="45720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2011680"/>
            <a:ext cx="34747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WHERE THESE LIVE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Section D · rules,</a:t>
            </a:r>
            <a:br/>
            <a:r>
              <a:rPr sz="1200" b="0">
                <a:solidFill>
                  <a:srgbClr val="1F2937"/>
                </a:solidFill>
                <a:latin typeface="Calibri"/>
              </a:rPr>
              <a:t>and the Insights modal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3127A8"/>
                </a:solidFill>
                <a:latin typeface="Calibri"/>
              </a:rPr>
              <a:t>WHY THEY MATTER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This is the platform</a:t>
            </a:r>
            <a:br/>
            <a:r>
              <a:rPr sz="1200" b="0">
                <a:solidFill>
                  <a:srgbClr val="1F2937"/>
                </a:solidFill>
                <a:latin typeface="Calibri"/>
              </a:rPr>
              <a:t>learning over time.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SECTION 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Questions, gaps, corrections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EEF2FF"/>
                </a:solidFill>
                <a:latin typeface="Calibri"/>
              </a:rPr>
              <a:t>If a dataset is wrong, a scenario doesn't match how your team actually works, or a rule needs tightening — that's the highest-value feedback you can give us. Mark it on the deck, send it back, and we'll fold it 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