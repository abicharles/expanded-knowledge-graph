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Arial"/>
              </a:rPr>
              <a:t>TCS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A8FA0"/>
                </a:solidFill>
                <a:latin typeface="Arial"/>
              </a:rPr>
              <a:t>Tata Consultancy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31089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A8FA0"/>
                </a:solidFill>
                <a:latin typeface="Arial"/>
              </a:rPr>
              <a:t>DATASETS &amp; RULES · REFERENCE FOR DOMAIN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108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9B2226"/>
                </a:solidFill>
                <a:latin typeface="Arial"/>
              </a:rPr>
              <a:t>KNOWLEDGE FABRIC · CONFIDENTIAL · 01 / 09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11274552" cy="109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112745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8A8FA0"/>
                </a:solidFill>
                <a:latin typeface="Arial"/>
              </a:rPr>
              <a:t>© 2026 Tata Consultancy Services Limited. All rights reserved. · TCS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E2761"/>
                </a:solidFill>
                <a:latin typeface="Georgia"/>
              </a:rPr>
              <a:t>The data and rules behind the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Georgia"/>
              </a:rPr>
              <a:t>Reference for procurement and logistics domain experts. What the agent reads, what it understands, what it does.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06040"/>
            <a:ext cx="11430000" cy="3200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34747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PILLAR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651760"/>
            <a:ext cx="39319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WHAT IT 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651760"/>
            <a:ext cx="34747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WHERE TO VERIFY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80944"/>
            <a:ext cx="347472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Data sources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980944"/>
            <a:ext cx="393192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Every fact on a case card started as a row in one of 14 sources.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980944"/>
            <a:ext cx="347472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Section A · slide 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698748"/>
            <a:ext cx="11430000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11430000" cy="77724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758183"/>
            <a:ext cx="347472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Ontology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3758183"/>
            <a:ext cx="393192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The dictionary of concepts the agent understands (Supplier, Carrier, SanctionsProximity).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758183"/>
            <a:ext cx="347472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Section B · slide 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75988"/>
            <a:ext cx="11430000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535423"/>
            <a:ext cx="347472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Scenarios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4535423"/>
            <a:ext cx="393192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Named recipes — one per kind of work — the agent can perform.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535423"/>
            <a:ext cx="347472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Section C · slides 04 – 06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253227"/>
            <a:ext cx="11430000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257799"/>
            <a:ext cx="11430000" cy="77724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312663"/>
            <a:ext cx="347472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Rules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5312663"/>
            <a:ext cx="393192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Guardrails on when the agent acts alone, when a human is asked, what stays immutable.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312663"/>
            <a:ext cx="3474720" cy="6675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Section D · slide 07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030467"/>
            <a:ext cx="11430000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11274552" cy="3657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6035040"/>
            <a:ext cx="10972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Arial"/>
              </a:rPr>
              <a:t>WHAT WE NEED FROM YOU:  flag anything in this deck that doesn't match how your team actually works.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Arial"/>
              </a:rPr>
              <a:t>TCS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A8FA0"/>
                </a:solidFill>
                <a:latin typeface="Arial"/>
              </a:rPr>
              <a:t>Tata Consultancy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31089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A8FA0"/>
                </a:solidFill>
                <a:latin typeface="Arial"/>
              </a:rPr>
              <a:t>SECTION A · THE DATA SOURCES BEHIND EVERY FACT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108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9B2226"/>
                </a:solidFill>
                <a:latin typeface="Arial"/>
              </a:rPr>
              <a:t>KNOWLEDGE FABRIC · CONFIDENTIAL · 02 / 09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11274552" cy="109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112745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8A8FA0"/>
                </a:solidFill>
                <a:latin typeface="Arial"/>
              </a:rPr>
              <a:t>© 2026 Tata Consultancy Services Limited. All rights reserved. · TCS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E2761"/>
                </a:solidFill>
                <a:latin typeface="Georgia"/>
              </a:rPr>
              <a:t>Data sources — 14 sources, four kinds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Georgia"/>
              </a:rPr>
              <a:t>If a fact is wrong on a case, the row behind it is wrong in one of these sources. All can be edited by SMEs.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06040"/>
            <a:ext cx="11274552" cy="3200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1371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KIND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651760"/>
            <a:ext cx="374903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EXAMPLES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651760"/>
            <a:ext cx="39319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WHAT'S IN IT / WHO OWNS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2651760"/>
            <a:ext cx="149047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BACKS (ONTOLOGY)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980944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1E2761"/>
                </a:solidFill>
                <a:latin typeface="Arial"/>
              </a:rPr>
              <a:t>Spreadsheets (CSV)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980944"/>
            <a:ext cx="374903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products, sanctions, carriers, lanes, ports, freight_rates, customer_orders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980944"/>
            <a:ext cx="39319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Hand-curated master data. ~5,000 rows. Procurement + logistics SMEs maintain.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980944"/>
            <a:ext cx="149047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Product, Carrier, Lane, Port, FreightRate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634740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639312"/>
            <a:ext cx="11274552" cy="713232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694176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1E2761"/>
                </a:solidFill>
                <a:latin typeface="Arial"/>
              </a:rPr>
              <a:t>Activity feeds (CSV)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694176"/>
            <a:ext cx="374903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shipments, shipment_events, shipment_performance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694176"/>
            <a:ext cx="39319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Synthetic stand-in for a live tracking feed. ~22k rows; mirrors what an OMS would push.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3694176"/>
            <a:ext cx="149047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Shipment, ShipmentEvent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47972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407408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1E2761"/>
                </a:solidFill>
                <a:latin typeface="Arial"/>
              </a:rPr>
              <a:t>Operational stores (SQLite)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4407408"/>
            <a:ext cx="374903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logistics.sqlite, governance.sqlite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0" y="4407408"/>
            <a:ext cx="39319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Write targets. Bookings + demurrage charges; prior reviewer decisions. The agent writes here.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407408"/>
            <a:ext cx="149047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Booking, PriorOverride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061204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065776"/>
            <a:ext cx="11274552" cy="713232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120640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1E2761"/>
                </a:solidFill>
                <a:latin typeface="Arial"/>
              </a:rPr>
              <a:t>Policy library (vector)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120640"/>
            <a:ext cx="374903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policy_corpus (5 SOP markdown excerpts)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5120640"/>
            <a:ext cx="39319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Semantic search over policy text. Returns the most-relevant excerpts to a question.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49840" y="5120640"/>
            <a:ext cx="149047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PolicyExcerpt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774436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833872"/>
            <a:ext cx="13716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1E2761"/>
                </a:solidFill>
                <a:latin typeface="Arial"/>
              </a:rPr>
              <a:t>Knowledge graph (Neo4j)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5833872"/>
            <a:ext cx="3749039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supplier networks, alliances, sanctions ownership chains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5040" y="5833872"/>
            <a:ext cx="393192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Relationships. Powers the 3-hop sanctions walk, UBO disclosure, carrier alliance reach.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5833872"/>
            <a:ext cx="149047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Supplier, SanctionsProximity, UltimateBeneficialOwner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6487668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Arial"/>
              </a:rPr>
              <a:t>TCS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A8FA0"/>
                </a:solidFill>
                <a:latin typeface="Arial"/>
              </a:rPr>
              <a:t>Tata Consultancy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31089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A8FA0"/>
                </a:solidFill>
                <a:latin typeface="Arial"/>
              </a:rPr>
              <a:t>SECTION B · THE VOCABULARY THE AGENT USES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108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9B2226"/>
                </a:solidFill>
                <a:latin typeface="Arial"/>
              </a:rPr>
              <a:t>KNOWLEDGE FABRIC · CONFIDENTIAL · 03 / 09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11274552" cy="109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112745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8A8FA0"/>
                </a:solidFill>
                <a:latin typeface="Arial"/>
              </a:rPr>
              <a:t>© 2026 Tata Consultancy Services Limited. All rights reserved. · TCS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E2761"/>
                </a:solidFill>
                <a:latin typeface="Georgia"/>
              </a:rPr>
              <a:t>Ontology — concepts, in four families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Georgia"/>
              </a:rPr>
              <a:t>Every fact card has a class label (e.g. SanctionsProximity). The ontology is the dictionary that defines them. 27 classes across four families.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06040"/>
            <a:ext cx="11274552" cy="3200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16459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FAMILY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651760"/>
            <a:ext cx="4389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CONCEPTS (CLASSES)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2651760"/>
            <a:ext cx="283463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WHERE ITS DATA COMES FROM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66960" y="2651760"/>
            <a:ext cx="1673351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USED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980944"/>
            <a:ext cx="164592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1E2761"/>
                </a:solidFill>
                <a:latin typeface="Arial"/>
              </a:rPr>
              <a:t>tcs_core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2980944"/>
            <a:ext cx="438912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Product, SanctionedEntity, PriorOverride, PolicyExcerpt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980944"/>
            <a:ext cx="2834639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Products CSV, sanctions CSV, governance SQLite, policy corpus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66960" y="2980944"/>
            <a:ext cx="1673351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Every HITL scenario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835908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11274552" cy="9144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895344"/>
            <a:ext cx="164592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1E2761"/>
                </a:solidFill>
                <a:latin typeface="Arial"/>
              </a:rPr>
              <a:t>supply_chain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895344"/>
            <a:ext cx="438912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Supplier, PurchaseOrder, SanctionsProximity, UltimateBeneficialOwner, CarrierExposure, TierSupplier, AlternativeSupplier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3895344"/>
            <a:ext cx="2834639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Mostly Neo4j graph; some CSV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60" y="3895344"/>
            <a:ext cx="1673351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All SC-PP-* scenarios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750308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809744"/>
            <a:ext cx="164592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1E2761"/>
                </a:solidFill>
                <a:latin typeface="Arial"/>
              </a:rPr>
              <a:t>logistics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4809744"/>
            <a:ext cx="438912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Shipment, ShipmentEvent, Carrier, Lane, Port, Booking, FreightRate, CustomerOrder, DemurrageCharge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4809744"/>
            <a:ext cx="2834639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Carriers / lanes / ports CSVs; logistics SQLite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4809744"/>
            <a:ext cx="1673351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All SC-LN-* scenarios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664708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669280"/>
            <a:ext cx="11274552" cy="9144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724144"/>
            <a:ext cx="164592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1E2761"/>
                </a:solidFill>
                <a:latin typeface="Arial"/>
              </a:rPr>
              <a:t>supply_chain_demo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7440" y="5724144"/>
            <a:ext cx="4389120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Product, PriorOverride (demo-only variants)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5724144"/>
            <a:ext cx="2834639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Demo-seeded CSVs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60" y="5724144"/>
            <a:ext cx="1673351" cy="8046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Sandbox + demo cases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579108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08A"/>
                </a:solidFill>
                <a:latin typeface="Arial"/>
              </a:rPr>
              <a:t>Ontology change vs data change: a missing CONCEPT (e.g. "we also care about beneficial owners' citizenship") is an ontology edit. A missing ROW is a data edit. Different fix paths.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Arial"/>
              </a:rPr>
              <a:t>TCS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A8FA0"/>
                </a:solidFill>
                <a:latin typeface="Arial"/>
              </a:rPr>
              <a:t>Tata Consultancy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31089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A8FA0"/>
                </a:solidFill>
                <a:latin typeface="Arial"/>
              </a:rPr>
              <a:t>SECTION C · 28 SCENARIOS ACROSS FOUR DOMAINS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108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9B2226"/>
                </a:solidFill>
                <a:latin typeface="Arial"/>
              </a:rPr>
              <a:t>KNOWLEDGE FABRIC · CONFIDENTIAL · 04 / 09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11274552" cy="109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112745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8A8FA0"/>
                </a:solidFill>
                <a:latin typeface="Arial"/>
              </a:rPr>
              <a:t>© 2026 Tata Consultancy Services Limited. All rights reserved. · TCS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E2761"/>
                </a:solidFill>
                <a:latin typeface="Georgia"/>
              </a:rPr>
              <a:t>Scenarios at a glance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Georgia"/>
              </a:rPr>
              <a:t>Each scenario is a named recipe. Triggered by operator prompt phrases (match_keywords), executes a fixed evidence-gathering flow, and either routes to a reviewer (HITL) or applies a guardrail (autonomous).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06040"/>
            <a:ext cx="11274551" cy="3200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18288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265176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COUNT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651760"/>
            <a:ext cx="5303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EXAMPLES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19" y="2651760"/>
            <a:ext cx="2679191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HITL / AUTONOMOUS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980944"/>
            <a:ext cx="182880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1E2761"/>
                </a:solidFill>
                <a:latin typeface="Arial"/>
              </a:rPr>
              <a:t>Procurement (SC-PP-*)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980944"/>
            <a:ext cx="73152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980944"/>
            <a:ext cx="530352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Supplier onboarding (SC-PP-008), UBO ownership walk (SC-PP-UBO-023), carrier-exposure containment (SC-PP-CARRIER-EXP-022)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19" y="2980944"/>
            <a:ext cx="2679191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1E2761"/>
                </a:solidFill>
                <a:latin typeface="Arial"/>
              </a:rPr>
              <a:t>6 HITL, 1 autonomous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790188"/>
            <a:ext cx="11274551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94760"/>
            <a:ext cx="11274551" cy="86868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849624"/>
            <a:ext cx="182880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1E2761"/>
                </a:solidFill>
                <a:latin typeface="Arial"/>
              </a:rPr>
              <a:t>Logistics (SC-LN-*)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849624"/>
            <a:ext cx="73152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3849624"/>
            <a:ext cx="530352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Mode-switch ocean→air (SC-LN-002), port disruption reroute (SC-LN-PORT-DISRUPTION-020), demurrage auto-dispute (SC-LN-DEMURRAGE-AUTO-025)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19" y="3849624"/>
            <a:ext cx="2679191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1E2761"/>
                </a:solidFill>
                <a:latin typeface="Arial"/>
              </a:rPr>
              <a:t>5 HITL, 6 autonomous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658868"/>
            <a:ext cx="11274551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718304"/>
            <a:ext cx="182880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1E2761"/>
                </a:solidFill>
                <a:latin typeface="Arial"/>
              </a:rPr>
              <a:t>Trade compliance (SC-TC-*)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4718304"/>
            <a:ext cx="73152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0" y="4718304"/>
            <a:ext cx="530352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Override on sanctioned counterparty (SC-TC-007), encryption-module SDN hit (SC-TC-008)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19" y="4718304"/>
            <a:ext cx="2679191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1E2761"/>
                </a:solidFill>
                <a:latin typeface="Arial"/>
              </a:rPr>
              <a:t>Both HITL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527548"/>
            <a:ext cx="11274551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532120"/>
            <a:ext cx="11274551" cy="86868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586984"/>
            <a:ext cx="182880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1E2761"/>
                </a:solidFill>
                <a:latin typeface="Arial"/>
              </a:rPr>
              <a:t>Self-service lookups (SC-ONTO-*)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560320" y="5586984"/>
            <a:ext cx="73152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5586984"/>
            <a:ext cx="530352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Auto-generated, one per ontology class: "look up Product / Supplier / SanctionedEntity"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19" y="5586984"/>
            <a:ext cx="2679191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00" b="1">
                <a:solidFill>
                  <a:srgbClr val="1E2761"/>
                </a:solidFill>
                <a:latin typeface="Arial"/>
              </a:rPr>
              <a:t>All autonomous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396228"/>
            <a:ext cx="11274551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Arial"/>
              </a:rPr>
              <a:t>TCS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A8FA0"/>
                </a:solidFill>
                <a:latin typeface="Arial"/>
              </a:rPr>
              <a:t>Tata Consultancy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31089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A8FA0"/>
                </a:solidFill>
                <a:latin typeface="Arial"/>
              </a:rPr>
              <a:t>SECTION C · SPOTLIGHT · PROCUREMENT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108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9B2226"/>
                </a:solidFill>
                <a:latin typeface="Arial"/>
              </a:rPr>
              <a:t>KNOWLEDGE FABRIC · CONFIDENTIAL · 05 / 09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11274552" cy="109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112745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8A8FA0"/>
                </a:solidFill>
                <a:latin typeface="Arial"/>
              </a:rPr>
              <a:t>© 2026 Tata Consultancy Services Limited. All rights reserved. · TCS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E2761"/>
                </a:solidFill>
                <a:latin typeface="Georgia"/>
              </a:rPr>
              <a:t>Spotlight — supplier onboarding (SC-PP-008)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Georgia"/>
              </a:rPr>
              <a:t>The canonical demo case. Five data sources fused in one review. Procurement lead decides with the full evidence package on the audit trail.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06040"/>
            <a:ext cx="11247120" cy="3200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2103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WHAT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651760"/>
            <a:ext cx="87782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DETAIL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980944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Triggered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2980944"/>
            <a:ext cx="8778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Operator types phrases like "onboard with graph," "multi-source onboarding," "sanctions proximity," "hemlock onboarding."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71316"/>
            <a:ext cx="11247120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675888"/>
            <a:ext cx="11247120" cy="749808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730752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What the agent gathers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730752"/>
            <a:ext cx="8778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(1) The supplier's corporate network from the graph. (2) Their products from the CSV. (3) Live OFAC SDN matches. (4) Prior onboarding decisions on similar suppliers. (5) Relevant ESG / SOP excerpts via semantic search.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21124"/>
            <a:ext cx="11247120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480560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Decision shape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4480560"/>
            <a:ext cx="8778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HITL. Procurement lead approves, rejects, or requests more info. Three canned reject reasons: sanctions proximity too close, carrier-alliance concentration, reliability below tier-1 threshold.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170932"/>
            <a:ext cx="11247120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175504"/>
            <a:ext cx="11247120" cy="749808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230368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What happens on approve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5230368"/>
            <a:ext cx="8778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Supplier enters the active tier-1 pool. Evidence package is captured on the audit trail.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920740"/>
            <a:ext cx="11247120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980176"/>
            <a:ext cx="21031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What happens on reject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5980176"/>
            <a:ext cx="87782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Supplier is NOT added. Reason is recorded. Future similar candidates will see this case via PriorOverride.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670548"/>
            <a:ext cx="11247120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Arial"/>
              </a:rPr>
              <a:t>TCS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A8FA0"/>
                </a:solidFill>
                <a:latin typeface="Arial"/>
              </a:rPr>
              <a:t>Tata Consultancy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31089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A8FA0"/>
                </a:solidFill>
                <a:latin typeface="Arial"/>
              </a:rPr>
              <a:t>SECTION C · SPOTLIGHT · LOGISTICS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108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9B2226"/>
                </a:solidFill>
                <a:latin typeface="Arial"/>
              </a:rPr>
              <a:t>KNOWLEDGE FABRIC · CONFIDENTIAL · 06 / 09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11274552" cy="109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112745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8A8FA0"/>
                </a:solidFill>
                <a:latin typeface="Arial"/>
              </a:rPr>
              <a:t>© 2026 Tata Consultancy Services Limited. All rights reserved. · TCS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E2761"/>
                </a:solidFill>
                <a:latin typeface="Georgia"/>
              </a:rPr>
              <a:t>Spotlight — mode switch + autonomous demurrage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Georgia"/>
              </a:rPr>
              <a:t>Two logistics scenarios, both real demos. One is HITL with a high-stakes trade-off; the other is fully autonomous within a tight guardrail.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06040"/>
            <a:ext cx="11247120" cy="3200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2560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SCENARIO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651760"/>
            <a:ext cx="46634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WHAT IT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2651760"/>
            <a:ext cx="34747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TRADE-OFF / GUARDRAIL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80944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SC-LN-002 — Mode-switch ocean → air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980944"/>
            <a:ext cx="4663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A shipment is behind schedule. The agent presents the option to switch from ocean (MSC) to air (Lufthansa Cargo) on a critical lane.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980944"/>
            <a:ext cx="3474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18% cost uplift to recover 11 schedule days. Planner approves or rejects.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62756"/>
            <a:ext cx="11247120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67328"/>
            <a:ext cx="11247120" cy="841248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822191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SC-LN-PORT-DISRUPTION-020 — Port reroute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3822191"/>
            <a:ext cx="4663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A port closes or congests. The agent walks every shipment touching the lane and proposes per-shipment actions.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3822191"/>
            <a:ext cx="3474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HITL. Planner sees all affected shipments together.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604004"/>
            <a:ext cx="11247120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663440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SC-LN-DEMURRAGE-AUTO-025 — Auto-dispute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4663440"/>
            <a:ext cx="4663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Small demurrage charges with a prior-win precedent are disputed automatically.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663440"/>
            <a:ext cx="3474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ENVELOPE: charge ≤ $500 + at least one prior win. Above the envelope, routes to HITL.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445252"/>
            <a:ext cx="11247120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449824"/>
            <a:ext cx="11247120" cy="841248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504688"/>
            <a:ext cx="25603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SC-LN-SLA-RISK-022 — SLA risk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1840" y="5504688"/>
            <a:ext cx="46634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A shipment is at risk of breaching the customer SLA penalty window.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504688"/>
            <a:ext cx="34747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Expedite at extra cost or accept the penalty. Planner decides.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286500"/>
            <a:ext cx="11247120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Arial"/>
              </a:rPr>
              <a:t>TCS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A8FA0"/>
                </a:solidFill>
                <a:latin typeface="Arial"/>
              </a:rPr>
              <a:t>Tata Consultancy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31089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A8FA0"/>
                </a:solidFill>
                <a:latin typeface="Arial"/>
              </a:rPr>
              <a:t>SECTION D · THE GUARDRAILS AND THE AUDIT TRAIL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108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9B2226"/>
                </a:solidFill>
                <a:latin typeface="Arial"/>
              </a:rPr>
              <a:t>KNOWLEDGE FABRIC · CONFIDENTIAL · 07 / 09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11274552" cy="109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112745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8A8FA0"/>
                </a:solidFill>
                <a:latin typeface="Arial"/>
              </a:rPr>
              <a:t>© 2026 Tata Consultancy Services Limited. All rights reserved. · TCS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E2761"/>
                </a:solidFill>
                <a:latin typeface="Georgia"/>
              </a:rPr>
              <a:t>Rules — when the agent acts, when it learns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Georgia"/>
              </a:rPr>
              <a:t>Four pillars: when work can complete without a human; when the platform learns from reviewer behaviour; what stays immutable; and who can do what.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06040"/>
            <a:ext cx="11247120" cy="3200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2103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651760"/>
            <a:ext cx="557784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HOW IT WORKS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651760"/>
            <a:ext cx="3017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WHY IT MATTERS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80944"/>
            <a:ext cx="210312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Autonomous envelopes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980944"/>
            <a:ext cx="557784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Each autonomous scenario carries a guardrail (e.g. "demurrage charge ≤ $500 + at least one prior win"). If the guardrail fails, the case routes to HITL automatically.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980944"/>
            <a:ext cx="301752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The agent acts alone only inside narrow, signed-off limits.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790188"/>
            <a:ext cx="11247120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794760"/>
            <a:ext cx="11247120" cy="86868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849624"/>
            <a:ext cx="210312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Promoted patterns (compounding loop)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849624"/>
            <a:ext cx="557784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Reviewers flag 1–3 load-bearing facts per decision. When the same driver shows up in many similar decisions, an admin can promote it. Future matching cases see an advisory chip.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849624"/>
            <a:ext cx="301752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The platform learns from real reviewer behaviour. Reversible.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658868"/>
            <a:ext cx="11247120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718304"/>
            <a:ext cx="210312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Immutable audit trail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4718304"/>
            <a:ext cx="557784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Every case is pinned to the scenario version it ran against. Lineage is append-only. Scenario edits create a new version; the old version stays inspectable forever.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718304"/>
            <a:ext cx="301752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Auditors can answer "what spec was running when?" without git archaeology.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527548"/>
            <a:ext cx="11247120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586984"/>
            <a:ext cx="210312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Access control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34640" y="5586984"/>
            <a:ext cx="557784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Operators submit cases. Reviewers (named per scenario) decide on them. Admins edit scenarios and promote patterns. Every state change is tied to a username.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5586984"/>
            <a:ext cx="3017520" cy="7589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Roles are enforced at the API; UI hides what the role can't access.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396228"/>
            <a:ext cx="11247120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Arial"/>
              </a:rPr>
              <a:t>TCS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A8FA0"/>
                </a:solidFill>
                <a:latin typeface="Arial"/>
              </a:rPr>
              <a:t>Tata Consultancy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31089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A8FA0"/>
                </a:solidFill>
                <a:latin typeface="Arial"/>
              </a:rPr>
              <a:t>SECTION E · PLAIN-ENGLISH DEFINITIONS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108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9B2226"/>
                </a:solidFill>
                <a:latin typeface="Arial"/>
              </a:rPr>
              <a:t>KNOWLEDGE FABRIC · CONFIDENTIAL · 08 / 09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11274552" cy="109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112745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8A8FA0"/>
                </a:solidFill>
                <a:latin typeface="Arial"/>
              </a:rPr>
              <a:t>© 2026 Tata Consultancy Services Limited. All rights reserved. · TCS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E2761"/>
                </a:solidFill>
                <a:latin typeface="Georgia"/>
              </a:rPr>
              <a:t>Glossary — words used in this deck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Georgia"/>
              </a:rPr>
              <a:t>Short definitions for the terms the system uses. Useful as a back-of-the-room reference during a walkthrough.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06040"/>
            <a:ext cx="11274552" cy="3200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2011679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TERM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651760"/>
            <a:ext cx="5303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WHAT IT MEANS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651760"/>
            <a:ext cx="341071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 OUR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80944"/>
            <a:ext cx="201167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Case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980944"/>
            <a:ext cx="53035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One operator-initiated unit of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980944"/>
            <a:ext cx="34107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Has a prompt, a scenario, evidence, eventually a decision.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78708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383280"/>
            <a:ext cx="11274552" cy="4572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438144"/>
            <a:ext cx="201167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Scenario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3438144"/>
            <a:ext cx="53035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A named recipe for how the agent should handle a kind of 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438144"/>
            <a:ext cx="34107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Versioned. Triggered by match_keywords. ~28 today.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835908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895344"/>
            <a:ext cx="201167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Ontology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3895344"/>
            <a:ext cx="53035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The dictionary of concepts the system understands.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895344"/>
            <a:ext cx="34107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Defines classes (Supplier, Carrier, etc.) and their fields.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293108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297680"/>
            <a:ext cx="11274552" cy="4572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352544"/>
            <a:ext cx="201167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Data source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4352544"/>
            <a:ext cx="53035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Where rows of data live.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352544"/>
            <a:ext cx="34107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14 sources today: CSVs, SQLites, graph, vector store, HTTP.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750308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809744"/>
            <a:ext cx="201167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Lineage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4809744"/>
            <a:ext cx="53035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The immutable record of every step the agent took during a case.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809744"/>
            <a:ext cx="34107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Append-only audit trail.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207508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212080"/>
            <a:ext cx="11274552" cy="4572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266944"/>
            <a:ext cx="201167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Scenario version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266944"/>
            <a:ext cx="53035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Every edit produces a new immutable snapshot.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5266944"/>
            <a:ext cx="34107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Old versions stay forever (Phase 1).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664708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724144"/>
            <a:ext cx="201167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Load-bearing fact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43200" y="5724144"/>
            <a:ext cx="53035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An evidence card the reviewer flagged as having tipped the decision.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0" y="5724144"/>
            <a:ext cx="34107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1–3 per case (Phase 2).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6121908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6126480"/>
            <a:ext cx="11274552" cy="4572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48640" y="6181344"/>
            <a:ext cx="2011679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Promoted pattern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6181344"/>
            <a:ext cx="53035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A recurring driver across many decisions, promoted by an admin into the scenario.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6181344"/>
            <a:ext cx="341071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Surfaces as an advisory chip on future matching cases (Phase 3b).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6579108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E2761"/>
                </a:solidFill>
                <a:latin typeface="Arial"/>
              </a:rPr>
              <a:t>TCS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94360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8A8FA0"/>
                </a:solidFill>
                <a:latin typeface="Arial"/>
              </a:rPr>
              <a:t>Tata Consultancy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31089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8A8FA0"/>
                </a:solidFill>
                <a:latin typeface="Arial"/>
              </a:rPr>
              <a:t>THE FEEDBACK WE WANT FROM DOMAIN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10896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1">
                <a:solidFill>
                  <a:srgbClr val="9B2226"/>
                </a:solidFill>
                <a:latin typeface="Arial"/>
              </a:rPr>
              <a:t>KNOWLEDGE FABRIC · CONFIDENTIAL · 09 / 09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841248"/>
            <a:ext cx="11274552" cy="109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37960"/>
            <a:ext cx="112745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8A8FA0"/>
                </a:solidFill>
                <a:latin typeface="Arial"/>
              </a:rPr>
              <a:t>© 2026 Tata Consultancy Services Limited. All rights reserved. · TCS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05840"/>
            <a:ext cx="112471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1E2761"/>
                </a:solidFill>
                <a:latin typeface="Georgia"/>
              </a:rPr>
              <a:t>Where domain expertise tips the balance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82880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A5A"/>
                </a:solidFill>
                <a:latin typeface="Georgia"/>
              </a:rPr>
              <a:t>We can keep the platform self-consistent. We can't tell you whether it matches the way your team actually works. That's the highest-value review you can give us.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06040"/>
            <a:ext cx="11274552" cy="3200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651760"/>
            <a:ext cx="39319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IF YOU FIND…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51760"/>
            <a:ext cx="34747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…IT LIKELY MEANS…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651760"/>
            <a:ext cx="331927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…AND THE FIX 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980944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A dataset is missing a column or row your team cares about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80944"/>
            <a:ext cx="34747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Data source is incomplete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980944"/>
            <a:ext cx="331927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Update the CSV / SQLite; reload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561588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566160"/>
            <a:ext cx="11274552" cy="64008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621024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A scenario doesn't capture how you actually decide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3621024"/>
            <a:ext cx="34747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The recipe needs a step or a rationale option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621024"/>
            <a:ext cx="331927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Scenario edit (bumps version)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01668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261104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A concept is missing ("we also care about X")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261104"/>
            <a:ext cx="34747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Ontology is incomplete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261104"/>
            <a:ext cx="331927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Ontology edit (engineering pair-up)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841748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846320"/>
            <a:ext cx="11274552" cy="64008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901184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A rule fires too aggressively or not enough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4901184"/>
            <a:ext cx="34747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Guardrail / envelope is mis-tuned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4901184"/>
            <a:ext cx="331927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Adjust the envelope (admin)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481828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541264"/>
            <a:ext cx="39319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1E2761"/>
                </a:solidFill>
                <a:latin typeface="Arial"/>
              </a:rPr>
              <a:t>A promoted pattern doesn't match your experience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5541264"/>
            <a:ext cx="347472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The platform learned from a small or biased sample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0" y="5541264"/>
            <a:ext cx="331927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5A5A5A"/>
                </a:solidFill>
                <a:latin typeface="Arial"/>
              </a:rPr>
              <a:t>Demote it (audit trail keeps the record)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121908"/>
            <a:ext cx="11274552" cy="4572"/>
          </a:xfrm>
          <a:prstGeom prst="rect">
            <a:avLst/>
          </a:prstGeom>
          <a:solidFill>
            <a:srgbClr val="8A8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943600"/>
            <a:ext cx="11274552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5989320"/>
            <a:ext cx="10972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MARK THIS DECK UP.  Send it back with notes.  Every gap you find becomes a scenario edit, a data fix, or an ontology revision.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