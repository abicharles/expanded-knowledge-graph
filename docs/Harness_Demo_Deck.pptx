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Credible supervisor</c:v>
                </c:pt>
              </c:strCache>
            </c:strRef>
          </c:tx>
          <c:spPr>
            <a:solidFill>
              <a:srgbClr val="D9533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First-time-right</c:v>
                  </c:pt>
                  <c:pt idx="1">
                    <c:v>Decisions within autonomy</c:v>
                  </c:pt>
                  <c:pt idx="2">
                    <c:v>Audit completeness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25</c:v>
                </c:pt>
                <c:pt idx="2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Harness (target)</c:v>
                </c:pt>
              </c:strCache>
            </c:strRef>
          </c:tx>
          <c:spPr>
            <a:solidFill>
              <a:srgbClr val="1B9E8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First-time-right</c:v>
                  </c:pt>
                  <c:pt idx="1">
                    <c:v>Decisions within autonomy</c:v>
                  </c:pt>
                  <c:pt idx="2">
                    <c:v>Audit completeness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60</c:v>
                </c:pt>
                <c:pt idx="2">
                  <c:v>99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5606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51560"/>
            <a:ext cx="731520" cy="73152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124175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FUNCTION AUTONOMY HARNESS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33172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work crosses every system,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actually runs it?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swarm coordinates workers. The harness runs the business work.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+ dual close      •      CXO &amp; enterprise architecture      •      Illustrative scenario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today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tier-2 supplier you don't buy from — and may not know you depend on — files for protection.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hours a war room forms: procurement, planning, quality, finance, three program managers. Each arrives with a different system view and a different spreadsheet.</a:t>
            </a:r>
            <a:endParaRPr lang="en-US" sz="15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days later they land on a decision that's defensible to each of them — and wrong for the business in ways you discover in Q3.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635240" y="187452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01000" y="2194560"/>
            <a:ext cx="548640" cy="54864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3646" y="23372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2880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days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028432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functions  ·  1 decision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28432" y="3950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to each. Wrong for the business.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68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fragmented business state — not a missing agent.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clock you can't see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4F6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240280"/>
            <a:ext cx="594360" cy="59436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7534" y="23948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017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days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143000" y="3703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inventory left before Plant A stops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17720" y="192024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4F6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240280"/>
            <a:ext cx="594360" cy="594360"/>
          </a:xfrm>
          <a:prstGeom prst="ellipse">
            <a:avLst/>
          </a:prstGeom>
          <a:solidFill>
            <a:srgbClr val="D953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294" y="23948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3017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$48M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4937760" y="3703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flagship-program revenue at risk, plus daily OTD penalties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412480" y="192024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4F6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32520" y="2240280"/>
            <a:ext cx="594360" cy="59436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054" y="23948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32520" y="3017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programs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8732520" y="3703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through 1 hidden tier-2 dependency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68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flagship program is for your largest customer. A blunt reallocation protects the line and scorches the relationship.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"MORE AGENTS" IS THE WRONG REFLEX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is a trap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4F6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240280"/>
            <a:ext cx="548640" cy="548640"/>
          </a:xfrm>
          <a:prstGeom prst="ellipse">
            <a:avLst/>
          </a:prstGeom>
          <a:solidFill>
            <a:srgbClr val="5A647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646" y="23829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MANUAL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43000" y="32186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and wrong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43000" y="3703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of war-room effort on fragmented data. Defensible locally, wrong globally.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17720" y="192024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BEEE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2240280"/>
            <a:ext cx="548640" cy="548640"/>
          </a:xfrm>
          <a:prstGeom prst="ellipse">
            <a:avLst/>
          </a:prstGeom>
          <a:solidFill>
            <a:srgbClr val="D953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406" y="238292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3776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5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SWARM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937760" y="32186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and wrong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937760" y="3703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succeeds at its task; collectively they re-concentrate risk, breach clauses, and act on a partial picture.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412480" y="192024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732520" y="2240280"/>
            <a:ext cx="548640" cy="54864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5166" y="238292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3252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F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732520" y="32186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Fast, right, governed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732520" y="3703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owner of the outcome, grounded in shared meaning, with governed authority and one audit trail.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68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was never speed. It was governed coordination.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ARCHITECTURAL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 the work, not the agent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0A1F36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2359152"/>
            <a:ext cx="548640" cy="548640"/>
          </a:xfrm>
          <a:prstGeom prst="ellipse">
            <a:avLst/>
          </a:prstGeom>
          <a:solidFill>
            <a:srgbClr val="2E5A8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366" y="250179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3957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20240" y="26700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Internalizes coordination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234440" y="333756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state, authority, and learning live inside an agent.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lost or rewritten when the agent, model, or platform changes.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55080" y="2011680"/>
            <a:ext cx="5074920" cy="2743200"/>
          </a:xfrm>
          <a:prstGeom prst="roundRect">
            <a:avLst>
              <a:gd name="adj" fmla="val 2667"/>
            </a:avLst>
          </a:prstGeom>
          <a:solidFill>
            <a:srgbClr val="0A1F36"/>
          </a:solidFill>
          <a:ln/>
        </p:spPr>
      </p:sp>
      <p:sp>
        <p:nvSpPr>
          <p:cNvPr id="11" name="Shape 8"/>
          <p:cNvSpPr/>
          <p:nvPr/>
        </p:nvSpPr>
        <p:spPr>
          <a:xfrm>
            <a:off x="6720840" y="2359152"/>
            <a:ext cx="548640" cy="54864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486" y="250179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3957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452360" y="26700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Externalizes business control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766560" y="3337560"/>
            <a:ext cx="4251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Work, semantics, decisions, authority, audit, and learning are first-class objects.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stay governed across every agent and platform.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822960" y="5029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internalizes coordination. The harness externalizes business control — a supervisor can run beneath it.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acts — Aeronova supply assurance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 — WATCH IT RUN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384048" cy="384048"/>
          </a:xfrm>
          <a:prstGeom prst="ellipse">
            <a:avLst/>
          </a:prstGeom>
          <a:solidFill>
            <a:srgbClr val="1B9E8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08483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mirror   </a:t>
            </a:r>
            <a:pPr indent="0" marL="0">
              <a:buNone/>
            </a:pPr>
            <a:r>
              <a:rPr lang="en-US" sz="14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before any product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2670048"/>
            <a:ext cx="384048" cy="384048"/>
          </a:xfrm>
          <a:prstGeom prst="ellipse">
            <a:avLst/>
          </a:prstGeom>
          <a:solidFill>
            <a:srgbClr val="1B9E8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6517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reveal   </a:t>
            </a:r>
            <a:pPr indent="0" marL="0">
              <a:buNone/>
            </a:pPr>
            <a:r>
              <a:rPr lang="en-US" sz="14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sees the hidden tier-2 risk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3236976"/>
            <a:ext cx="384048" cy="384048"/>
          </a:xfrm>
          <a:prstGeom prst="ellipse">
            <a:avLst/>
          </a:prstGeom>
          <a:solidFill>
            <a:srgbClr val="1B9E8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21868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contrast   </a:t>
            </a:r>
            <a:pPr indent="0" marL="0">
              <a:buNone/>
            </a:pPr>
            <a:r>
              <a:rPr lang="en-US" sz="14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supervisor picks plausible; harness picks right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68680" y="3803904"/>
            <a:ext cx="384048" cy="384048"/>
          </a:xfrm>
          <a:prstGeom prst="ellipse">
            <a:avLst/>
          </a:prstGeom>
          <a:solidFill>
            <a:srgbClr val="1B9E8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3785616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re-plan   </a:t>
            </a:r>
            <a:pPr indent="0" marL="0">
              <a:buNone/>
            </a:pPr>
            <a:r>
              <a:rPr lang="en-US" sz="14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changes mid-flight — it revises and continues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44622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— WATCH THEM TEACH 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828032"/>
            <a:ext cx="384048" cy="384048"/>
          </a:xfrm>
          <a:prstGeom prst="ellipse">
            <a:avLst/>
          </a:prstGeom>
          <a:solidFill>
            <a:srgbClr val="1B9E8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82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480974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expert knowledge   </a:t>
            </a:r>
            <a:pPr indent="0" marL="0">
              <a:buNone/>
            </a:pPr>
            <a:r>
              <a:rPr lang="en-US" sz="14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tiers teach it; then the close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595360" y="2103120"/>
            <a:ext cx="2743200" cy="3108960"/>
          </a:xfrm>
          <a:prstGeom prst="roundRect">
            <a:avLst>
              <a:gd name="adj" fmla="val 2667"/>
            </a:avLst>
          </a:prstGeom>
          <a:solidFill>
            <a:srgbClr val="F4F6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86968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LABELS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8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69680" y="2944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now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869680" y="3300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8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69680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stubbed system, real logic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0" y="3904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8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69680" y="4151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cases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869680" y="4507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8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869680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hypothesis, not proof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6420" y="2057400"/>
            <a:ext cx="868680" cy="86868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2277" y="228325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15468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Aeronova — autonomous supply assurance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4343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harness. Run the five beats. Return here for the close.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 BEGINS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just saw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305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659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tier-2 dependency surfaced before any decision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355080" y="2011680"/>
            <a:ext cx="457200" cy="45720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213055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95160" y="19659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invalid "alternate" rejected — same parent, lapsed qualification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868680" y="2971800"/>
            <a:ext cx="457200" cy="45720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09067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29260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re-versioned the moment new evidence arrived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355080" y="2971800"/>
            <a:ext cx="457200" cy="45720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3090672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95160" y="29260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reversible action cancelled and compensated, not stranded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868680" y="3931920"/>
            <a:ext cx="457200" cy="45720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050792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508760" y="3886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recalculated; only the one risky call escalated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6355080" y="3931920"/>
            <a:ext cx="457200" cy="45720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4050792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95160" y="3886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audit trail across every platform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822960" y="5166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68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beat above is also a number you can put on the board.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— ON YOUR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4124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Better, on the metrics that matter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74520"/>
          <a:ext cx="73152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874520"/>
            <a:ext cx="3108960" cy="3108960"/>
          </a:xfrm>
          <a:prstGeom prst="roundRect">
            <a:avLst>
              <a:gd name="adj" fmla="val 2353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9536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E2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9536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95360" y="2862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~72h → 24–36h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95360" y="3355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interventions / case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95360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→ 3–5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95360" y="41056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change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95360" y="4361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edits → one bundle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68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targets. The real figures come from replaying your own historical disruption cases.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— HOW IT GETS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your people teach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4892040" cy="2788920"/>
          </a:xfrm>
          <a:prstGeom prst="roundRect">
            <a:avLst>
              <a:gd name="adj" fmla="val 2623"/>
            </a:avLst>
          </a:prstGeom>
          <a:solidFill>
            <a:srgbClr val="F4F6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240280"/>
            <a:ext cx="548640" cy="54864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366" y="23829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2585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EXPERTS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20240" y="2532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Work Pattern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234440" y="320040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space, factors, candidate heuristics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guardrails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concepts the pattern needs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34440" y="427024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8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 · reused across every client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17920" y="1874520"/>
            <a:ext cx="4892040" cy="2788920"/>
          </a:xfrm>
          <a:prstGeom prst="roundRect">
            <a:avLst>
              <a:gd name="adj" fmla="val 2623"/>
            </a:avLst>
          </a:prstGeom>
          <a:solidFill>
            <a:srgbClr val="F4F6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240280"/>
            <a:ext cx="548640" cy="54864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326" y="238292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0" y="22585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+ YOUR SME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315200" y="25328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it for your org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629400" y="320040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to your systems; resolve your entities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thresholds &amp; delegated authority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starting autonomy tier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629400" y="427024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8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data, your policies · weeks, not years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669280" y="29718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822960" y="4983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68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blank page — the system proposes logic from your history; experts confirm. Validated by replay: the same replay behind the scorecard.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46420" y="2057400"/>
            <a:ext cx="868680" cy="86868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2277" y="228325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15468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Capturing expert knowledge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industry expertise to your configured harness — switch to the elicitation demo, then return for the close.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COMPOUNDS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9611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moat is the meaning, not the data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83280" cy="2606040"/>
          </a:xfrm>
          <a:prstGeom prst="roundRect">
            <a:avLst>
              <a:gd name="adj" fmla="val 2807"/>
            </a:avLst>
          </a:prstGeom>
          <a:solidFill>
            <a:srgbClr val="F4F6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240280"/>
            <a:ext cx="548640" cy="54864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646" y="23829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Fabric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33832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on your existing data foundation. Your data, our governed meaning layer — the resolution that makes decisions correct.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17720" y="1920240"/>
            <a:ext cx="3383280" cy="2606040"/>
          </a:xfrm>
          <a:prstGeom prst="roundRect">
            <a:avLst>
              <a:gd name="adj" fmla="val 2807"/>
            </a:avLst>
          </a:prstGeom>
          <a:solidFill>
            <a:srgbClr val="F4F6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240280"/>
            <a:ext cx="548640" cy="54864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406" y="23829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decision logic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37760" y="33832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judgment of your best operators, encoded and governed — and compounding across every engagement.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412480" y="1920240"/>
            <a:ext cx="3383280" cy="2606040"/>
          </a:xfrm>
          <a:prstGeom prst="roundRect">
            <a:avLst>
              <a:gd name="adj" fmla="val 2807"/>
            </a:avLst>
          </a:prstGeom>
          <a:solidFill>
            <a:srgbClr val="F4F6F7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32520" y="2240280"/>
            <a:ext cx="548640" cy="54864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5166" y="23829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3252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Governed-work layer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732520" y="33832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while agents, models, platforms, and policies change underneath it. The switching cost grows with use.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22960" y="4846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68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MDM resolves identity for reporting. This resolves decision-relevant semantics, wired to governed decision logic.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swarm coordinates workers.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harness runs the business work.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on your reality — send us a sample of your historical disruption cases. We replay them through the harness and put the scorecard in front of you, on your own data.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5074920" cy="1554480"/>
          </a:xfrm>
          <a:prstGeom prst="roundRect">
            <a:avLst>
              <a:gd name="adj" fmla="val 4706"/>
            </a:avLst>
          </a:prstGeom>
          <a:solidFill>
            <a:srgbClr val="12715F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3995928"/>
            <a:ext cx="548640" cy="54864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366" y="4138574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39776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business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920240" y="43891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D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Greenlight the build behind a measurable, low-risk proof.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55080" y="3611880"/>
            <a:ext cx="5074920" cy="1554480"/>
          </a:xfrm>
          <a:prstGeom prst="roundRect">
            <a:avLst>
              <a:gd name="adj" fmla="val 4706"/>
            </a:avLst>
          </a:prstGeom>
          <a:solidFill>
            <a:srgbClr val="163A5C"/>
          </a:solidFill>
          <a:ln/>
        </p:spPr>
      </p:sp>
      <p:sp>
        <p:nvSpPr>
          <p:cNvPr id="11" name="Shape 8"/>
          <p:cNvSpPr/>
          <p:nvPr/>
        </p:nvSpPr>
        <p:spPr>
          <a:xfrm>
            <a:off x="6720840" y="3995928"/>
            <a:ext cx="548640" cy="548640"/>
          </a:xfrm>
          <a:prstGeom prst="ellipse">
            <a:avLst/>
          </a:prstGeom>
          <a:solidFill>
            <a:srgbClr val="1B9E8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486" y="413857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39776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partnership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452360" y="43891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D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 design partner whose reality defines the first deployment.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next step. Same evidence. Your numbers, not ours.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Function Autonomy Harness — Demo Deck</dc:title>
  <dc:subject>PptxGenJS Presentation</dc:subject>
  <dc:creator>Abigail</dc:creator>
  <cp:lastModifiedBy>Abigail</cp:lastModifiedBy>
  <cp:revision>1</cp:revision>
  <dcterms:created xsi:type="dcterms:W3CDTF">2026-06-20T21:47:43Z</dcterms:created>
  <dcterms:modified xsi:type="dcterms:W3CDTF">2026-06-20T21:47:43Z</dcterms:modified>
</cp:coreProperties>
</file>