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52144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/>
            <a:r>
              <a:rPr sz="2400" b="1" i="0">
                <a:solidFill>
                  <a:srgbClr val="142647"/>
                </a:solidFill>
                <a:latin typeface="Calibri"/>
              </a:rPr>
              <a:t>Three audiences, three surfaces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52144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/>
            <a:r>
              <a:rPr sz="1200" b="0" i="1">
                <a:solidFill>
                  <a:srgbClr val="556677"/>
                </a:solidFill>
                <a:latin typeface="Calibri"/>
              </a:rPr>
              <a:t>Each persona has its own surface; nobody is asked to learn another role's tools. Examples of real workflow snippets below.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3657600" cy="5212080"/>
          </a:xfrm>
          <a:prstGeom prst="rect">
            <a:avLst/>
          </a:prstGeom>
          <a:solidFill>
            <a:srgbClr val="FBEED1"/>
          </a:solidFill>
          <a:ln w="9525">
            <a:solidFill>
              <a:srgbClr val="1426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>
              <a:spcAft>
                <a:spcPts val="800"/>
              </a:spcAft>
            </a:pPr>
            <a:r>
              <a:rPr sz="1800" b="1" i="0">
                <a:solidFill>
                  <a:srgbClr val="142647"/>
                </a:solidFill>
                <a:latin typeface="Calibri"/>
              </a:rPr>
              <a:t>Operator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556677"/>
                </a:solidFill>
                <a:latin typeface="Calibri"/>
              </a:rPr>
              <a:t>What they touch</a:t>
            </a:r>
          </a:p>
          <a:p>
            <a:pPr>
              <a:spcAft>
                <a:spcPts val="800"/>
              </a:spcAft>
            </a:pPr>
            <a:r>
              <a:rPr sz="1150" b="0" i="0">
                <a:solidFill>
                  <a:srgbClr val="233555"/>
                </a:solidFill>
                <a:latin typeface="Calibri"/>
              </a:rPr>
              <a:t>Chat composer + a row of suggested-prompt chips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556677"/>
                </a:solidFill>
                <a:latin typeface="Calibri"/>
              </a:rPr>
              <a:t>What they get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233555"/>
                </a:solidFill>
                <a:latin typeface="Calibri"/>
              </a:rPr>
              <a:t>A natural-language way to kick off pre-approved workflows or ad-hoc data queries against any registered source. No SQL or ontology authoring required.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556677"/>
                </a:solidFill>
                <a:latin typeface="Calibri"/>
              </a:rPr>
              <a:t>Example prompt</a:t>
            </a:r>
          </a:p>
          <a:p>
            <a:r>
              <a:rPr sz="1100" b="0" i="1">
                <a:solidFill>
                  <a:srgbClr val="142647"/>
                </a:solidFill>
                <a:latin typeface="Consolas"/>
              </a:rPr>
              <a:t>“Override the SC-TC-001 sanctions block on order ORD-44216 — customer says they have an OFAC license.”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0" y="1417320"/>
            <a:ext cx="3657600" cy="5212080"/>
          </a:xfrm>
          <a:prstGeom prst="rect">
            <a:avLst/>
          </a:prstGeom>
          <a:solidFill>
            <a:srgbClr val="DFF7F3"/>
          </a:solidFill>
          <a:ln w="9525">
            <a:solidFill>
              <a:srgbClr val="1426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>
              <a:spcAft>
                <a:spcPts val="800"/>
              </a:spcAft>
            </a:pPr>
            <a:r>
              <a:rPr sz="1800" b="1" i="0">
                <a:solidFill>
                  <a:srgbClr val="142647"/>
                </a:solidFill>
                <a:latin typeface="Calibri"/>
              </a:rPr>
              <a:t>Reviewer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556677"/>
                </a:solidFill>
                <a:latin typeface="Calibri"/>
              </a:rPr>
              <a:t>What they touch</a:t>
            </a:r>
          </a:p>
          <a:p>
            <a:pPr>
              <a:spcAft>
                <a:spcPts val="800"/>
              </a:spcAft>
            </a:pPr>
            <a:r>
              <a:rPr sz="1150" b="0" i="0">
                <a:solidFill>
                  <a:srgbClr val="233555"/>
                </a:solidFill>
                <a:latin typeface="Calibri"/>
              </a:rPr>
              <a:t>A Teams Adaptive Card (or in-app card) per pending decision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556677"/>
                </a:solidFill>
                <a:latin typeface="Calibri"/>
              </a:rPr>
              <a:t>What they get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233555"/>
                </a:solidFill>
                <a:latin typeface="Calibri"/>
              </a:rPr>
              <a:t>Approve / Reject / Need more info with the full bound context: active policy, actor scope, master data, prior similar cases, SOPs — all attached automatically.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556677"/>
                </a:solidFill>
                <a:latin typeface="Calibri"/>
              </a:rPr>
              <a:t>Example card</a:t>
            </a:r>
          </a:p>
          <a:p>
            <a:r>
              <a:rPr sz="1100" b="0" i="1">
                <a:solidFill>
                  <a:srgbClr val="142647"/>
                </a:solidFill>
                <a:latin typeface="Consolas"/>
              </a:rPr>
              <a:t>Sanctioned counterparty: Sanctioned Pharma Holdings · Product P-EL-9001 (ECCN 5A002) · Contract €4.2M → [Approve] [Reject] [Need info]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417320"/>
            <a:ext cx="3657600" cy="5212080"/>
          </a:xfrm>
          <a:prstGeom prst="rect">
            <a:avLst/>
          </a:prstGeom>
          <a:solidFill>
            <a:srgbClr val="DFF1E7"/>
          </a:solidFill>
          <a:ln w="9525">
            <a:solidFill>
              <a:srgbClr val="1426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>
              <a:spcAft>
                <a:spcPts val="800"/>
              </a:spcAft>
            </a:pPr>
            <a:r>
              <a:rPr sz="1800" b="1" i="0">
                <a:solidFill>
                  <a:srgbClr val="142647"/>
                </a:solidFill>
                <a:latin typeface="Calibri"/>
              </a:rPr>
              <a:t>Engineer / scenario author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556677"/>
                </a:solidFill>
                <a:latin typeface="Calibri"/>
              </a:rPr>
              <a:t>What they touch</a:t>
            </a:r>
          </a:p>
          <a:p>
            <a:pPr>
              <a:spcAft>
                <a:spcPts val="800"/>
              </a:spcAft>
            </a:pPr>
            <a:r>
              <a:rPr sz="1150" b="0" i="0">
                <a:solidFill>
                  <a:srgbClr val="233555"/>
                </a:solidFill>
                <a:latin typeface="Calibri"/>
              </a:rPr>
              <a:t>YAML files + the Knowledge admin tile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556677"/>
                </a:solidFill>
                <a:latin typeface="Calibri"/>
              </a:rPr>
              <a:t>What they get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233555"/>
                </a:solidFill>
                <a:latin typeface="Calibri"/>
              </a:rPr>
              <a:t>Register a new system and every existing scenario picks it up through the ontology layer — no rewrites. Author one ontology, get many scenarios for free.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556677"/>
                </a:solidFill>
                <a:latin typeface="Calibri"/>
              </a:rPr>
              <a:t>Example change</a:t>
            </a:r>
          </a:p>
          <a:p>
            <a:r>
              <a:rPr sz="1100" b="0" i="1">
                <a:solidFill>
                  <a:srgbClr val="142647"/>
                </a:solidFill>
                <a:latin typeface="Consolas"/>
              </a:rPr>
              <a:t>Add a Postgres governance source → click “Suggest mappings” → confirm Supplier.country → suppliers.country_code → done.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00800"/>
            <a:ext cx="1152144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/>
            <a:r>
              <a:rPr sz="1100" b="0" i="1">
                <a:solidFill>
                  <a:srgbClr val="556677"/>
                </a:solidFill>
                <a:latin typeface="Calibri"/>
              </a:rPr>
              <a:t>Same case object travels across all three surfaces — the audit trail stitches them together.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52144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/>
            <a:r>
              <a:rPr sz="2400" b="1" i="0">
                <a:solidFill>
                  <a:srgbClr val="142647"/>
                </a:solidFill>
                <a:latin typeface="Calibri"/>
              </a:rPr>
              <a:t>Architecture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52144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/>
            <a:r>
              <a:rPr sz="1200" b="0" i="1">
                <a:solidFill>
                  <a:srgbClr val="556677"/>
                </a:solidFill>
                <a:latin typeface="Calibri"/>
              </a:rPr>
              <a:t>Top of the diagram: what the operator sees. Bottom: connected enterprise systems. Each row is a swap-point.</a:t>
            </a:r>
          </a:p>
        </p:txBody>
      </p:sp>
      <p:pic>
        <p:nvPicPr>
          <p:cNvPr id="4" name="Picture 3" descr="_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7680960" cy="574054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29600" y="1325880"/>
            <a:ext cx="3657600" cy="5349240"/>
          </a:xfrm>
          <a:prstGeom prst="rect">
            <a:avLst/>
          </a:prstGeom>
          <a:solidFill>
            <a:srgbClr val="F3F5F9"/>
          </a:solidFill>
          <a:ln w="9525">
            <a:solidFill>
              <a:srgbClr val="1426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42647"/>
                </a:solidFill>
                <a:latin typeface="Calibri"/>
              </a:rPr>
              <a:t>The mental model</a:t>
            </a:r>
          </a:p>
          <a:p>
            <a:pPr>
              <a:spcAft>
                <a:spcPts val="800"/>
              </a:spcAft>
            </a:pPr>
            <a:r>
              <a:rPr sz="1050" b="0" i="1">
                <a:solidFill>
                  <a:srgbClr val="556677"/>
                </a:solidFill>
                <a:latin typeface="Calibri"/>
              </a:rPr>
              <a:t>Three nouns + three verbs.</a:t>
            </a:r>
          </a:p>
          <a:p>
            <a:pPr>
              <a:spcAft>
                <a:spcPts val="200"/>
              </a:spcAft>
            </a:pPr>
            <a:r>
              <a:rPr sz="1150" b="1" i="0">
                <a:solidFill>
                  <a:srgbClr val="142647"/>
                </a:solidFill>
                <a:latin typeface="Calibri"/>
              </a:rPr>
              <a:t>Three nouns  (what it knows)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42647"/>
                </a:solidFill>
                <a:latin typeface="Calibri"/>
              </a:rPr>
              <a:t>• Data sources</a:t>
            </a:r>
            <a:r>
              <a:rPr sz="1050" b="0" i="0">
                <a:solidFill>
                  <a:srgbClr val="233555"/>
                </a:solidFill>
                <a:latin typeface="Calibri"/>
              </a:rPr>
              <a:t> — CSV, SQLite, Postgres, HTTP, vector, Neo4j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42647"/>
                </a:solidFill>
                <a:latin typeface="Calibri"/>
              </a:rPr>
              <a:t>• Ontology</a:t>
            </a:r>
            <a:r>
              <a:rPr sz="1050" b="0" i="0">
                <a:solidFill>
                  <a:srgbClr val="233555"/>
                </a:solidFill>
                <a:latin typeface="Calibri"/>
              </a:rPr>
              <a:t> — business classes mapped to source columns; authored once, reused everywhere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42647"/>
                </a:solidFill>
                <a:latin typeface="Calibri"/>
              </a:rPr>
              <a:t>• Scenarios</a:t>
            </a:r>
            <a:r>
              <a:rPr sz="1050" b="0" i="0">
                <a:solidFill>
                  <a:srgbClr val="233555"/>
                </a:solidFill>
                <a:latin typeface="Calibri"/>
              </a:rPr>
              <a:t> — YAML recipes the agent follows; one per pattern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150" b="1" i="0">
                <a:solidFill>
                  <a:srgbClr val="142647"/>
                </a:solidFill>
                <a:latin typeface="Calibri"/>
              </a:rPr>
              <a:t>Three verbs  (what happens)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42647"/>
                </a:solidFill>
                <a:latin typeface="Calibri"/>
              </a:rPr>
              <a:t>• Classify</a:t>
            </a:r>
            <a:r>
              <a:rPr sz="1050" b="0" i="0">
                <a:solidFill>
                  <a:srgbClr val="233555"/>
                </a:solidFill>
                <a:latin typeface="Calibri"/>
              </a:rPr>
              <a:t> — LLM picks the scenario that matches the prompt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42647"/>
                </a:solidFill>
                <a:latin typeface="Calibri"/>
              </a:rPr>
              <a:t>• Bind</a:t>
            </a:r>
            <a:r>
              <a:rPr sz="1050" b="0" i="0">
                <a:solidFill>
                  <a:srgbClr val="233555"/>
                </a:solidFill>
                <a:latin typeface="Calibri"/>
              </a:rPr>
              <a:t> — framework gathers facts with provenance into a typed envelope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42647"/>
                </a:solidFill>
                <a:latin typeface="Calibri"/>
              </a:rPr>
              <a:t>• Decide</a:t>
            </a:r>
            <a:r>
              <a:rPr sz="1050" b="0" i="0">
                <a:solidFill>
                  <a:srgbClr val="233555"/>
                </a:solidFill>
                <a:latin typeface="Calibri"/>
              </a:rPr>
              <a:t> — auto-execute (low risk) or pause for a named reviewer</a:t>
            </a:r>
          </a:p>
          <a:p>
            <a:pPr>
              <a:spcBef>
                <a:spcPts val="1200"/>
              </a:spcBef>
            </a:pPr>
            <a:r>
              <a:rPr sz="1050" b="0" i="1">
                <a:solidFill>
                  <a:srgbClr val="556677"/>
                </a:solidFill>
                <a:latin typeface="Calibri"/>
              </a:rPr>
              <a:t>Everything else is implementation.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52144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/>
            <a:r>
              <a:rPr sz="2400" b="1" i="0">
                <a:solidFill>
                  <a:srgbClr val="142647"/>
                </a:solidFill>
                <a:latin typeface="Calibri"/>
              </a:rPr>
              <a:t>How scenarios, ontology, actions, and the resolver fit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52144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/>
            <a:r>
              <a:rPr sz="1200" b="0" i="1">
                <a:solidFill>
                  <a:srgbClr val="556677"/>
                </a:solidFill>
                <a:latin typeface="Calibri"/>
              </a:rPr>
              <a:t>Scenarios are the recipes. Ontology + KnowledgeResolver are how the agent finds data. Actions are how it writes back — always behind a human approval.</a:t>
            </a:r>
          </a:p>
        </p:txBody>
      </p:sp>
      <p:pic>
        <p:nvPicPr>
          <p:cNvPr id="4" name="Picture 3" descr="_component-inter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7040880" cy="360837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452360" y="1371600"/>
            <a:ext cx="2286000" cy="1920240"/>
          </a:xfrm>
          <a:prstGeom prst="rect">
            <a:avLst/>
          </a:prstGeom>
          <a:solidFill>
            <a:srgbClr val="DFF7F3"/>
          </a:solidFill>
          <a:ln w="9525">
            <a:solidFill>
              <a:srgbClr val="1426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142647"/>
                </a:solidFill>
                <a:latin typeface="Calibri"/>
              </a:rPr>
              <a:t>Scenario</a:t>
            </a:r>
          </a:p>
          <a:p>
            <a:pPr>
              <a:spcAft>
                <a:spcPts val="400"/>
              </a:spcAft>
            </a:pPr>
            <a:r>
              <a:rPr sz="950" b="0" i="0">
                <a:solidFill>
                  <a:srgbClr val="233555"/>
                </a:solidFill>
                <a:latin typeface="Calibri"/>
              </a:rPr>
              <a:t>A YAML recipe naming the stages, what to bind at each, who reviews it, and what to execute on approve. Each scenario references ontology classes — no raw SQL.</a:t>
            </a:r>
          </a:p>
          <a:p>
            <a:r>
              <a:rPr sz="850" b="0" i="1">
                <a:solidFill>
                  <a:srgbClr val="556677"/>
                </a:solidFill>
                <a:latin typeface="Consolas"/>
              </a:rPr>
              <a:t>SC-TC-007 binds Product, SanctionedEntity, PriorOverride.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9829800" y="1371600"/>
            <a:ext cx="2286000" cy="1920240"/>
          </a:xfrm>
          <a:prstGeom prst="rect">
            <a:avLst/>
          </a:prstGeom>
          <a:solidFill>
            <a:srgbClr val="DFF7F3"/>
          </a:solidFill>
          <a:ln w="9525">
            <a:solidFill>
              <a:srgbClr val="1426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142647"/>
                </a:solidFill>
                <a:latin typeface="Calibri"/>
              </a:rPr>
              <a:t>Ontology + mappings</a:t>
            </a:r>
          </a:p>
          <a:p>
            <a:pPr>
              <a:spcAft>
                <a:spcPts val="400"/>
              </a:spcAft>
            </a:pPr>
            <a:r>
              <a:rPr sz="950" b="0" i="0">
                <a:solidFill>
                  <a:srgbClr val="233555"/>
                </a:solidFill>
                <a:latin typeface="Calibri"/>
              </a:rPr>
              <a:t>Business classes (Supplier, Product, …) mapped to physical columns in any registered source. Authored once; reused by every scenario.</a:t>
            </a:r>
          </a:p>
          <a:p>
            <a:r>
              <a:rPr sz="850" b="0" i="1">
                <a:solidFill>
                  <a:srgbClr val="556677"/>
                </a:solidFill>
                <a:latin typeface="Consolas"/>
              </a:rPr>
              <a:t>SanctionedEntity → sanctions_csv.entity_name.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52360" y="3383280"/>
            <a:ext cx="2286000" cy="1920240"/>
          </a:xfrm>
          <a:prstGeom prst="rect">
            <a:avLst/>
          </a:prstGeom>
          <a:solidFill>
            <a:srgbClr val="E7EDF6"/>
          </a:solidFill>
          <a:ln w="9525">
            <a:solidFill>
              <a:srgbClr val="1426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142647"/>
                </a:solidFill>
                <a:latin typeface="Calibri"/>
              </a:rPr>
              <a:t>KnowledgeResolver</a:t>
            </a:r>
          </a:p>
          <a:p>
            <a:pPr>
              <a:spcAft>
                <a:spcPts val="400"/>
              </a:spcAft>
            </a:pPr>
            <a:r>
              <a:rPr sz="950" b="0" i="0">
                <a:solidFill>
                  <a:srgbClr val="233555"/>
                </a:solidFill>
                <a:latin typeface="Calibri"/>
              </a:rPr>
              <a:t>The Protocol every connector implements. Ontology passes it (class, filters) and gets back rows — without the scenario ever knowing CSV vs Postgres vs Neo4j.</a:t>
            </a:r>
          </a:p>
          <a:p>
            <a:r>
              <a:rPr sz="850" b="0" i="1">
                <a:solidFill>
                  <a:srgbClr val="556677"/>
                </a:solidFill>
                <a:latin typeface="Consolas"/>
              </a:rPr>
              <a:t>Same Protocol serves CSV and the Neo4j supply graph.</a:t>
            </a:r>
          </a:p>
        </p:txBody>
      </p:sp>
      <p:sp>
        <p:nvSpPr>
          <p:cNvPr id="8" name="Rectangle 7"/>
          <p:cNvSpPr/>
          <p:nvPr/>
        </p:nvSpPr>
        <p:spPr>
          <a:xfrm>
            <a:off x="9829800" y="3383280"/>
            <a:ext cx="2286000" cy="1920240"/>
          </a:xfrm>
          <a:prstGeom prst="rect">
            <a:avLst/>
          </a:prstGeom>
          <a:solidFill>
            <a:srgbClr val="FBEED1"/>
          </a:solidFill>
          <a:ln w="9525">
            <a:solidFill>
              <a:srgbClr val="1426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142647"/>
                </a:solidFill>
                <a:latin typeface="Calibri"/>
              </a:rPr>
              <a:t>Action + executor</a:t>
            </a:r>
          </a:p>
          <a:p>
            <a:pPr>
              <a:spcAft>
                <a:spcPts val="400"/>
              </a:spcAft>
            </a:pPr>
            <a:r>
              <a:rPr sz="950" b="0" i="0">
                <a:solidFill>
                  <a:srgbClr val="233555"/>
                </a:solidFill>
                <a:latin typeface="Calibri"/>
              </a:rPr>
              <a:t>A typed write op with a named hand-written executor (sql_update / http_request). The LLM only fills the args; the executor only runs after reviewer approval.</a:t>
            </a:r>
          </a:p>
          <a:p>
            <a:r>
              <a:rPr sz="850" b="0" i="1">
                <a:solidFill>
                  <a:srgbClr val="556677"/>
                </a:solidFill>
                <a:latin typeface="Consolas"/>
              </a:rPr>
              <a:t>On approve: update_outcome_decided_by runs.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5349240"/>
            <a:ext cx="4663440" cy="1371600"/>
          </a:xfrm>
          <a:prstGeom prst="rect">
            <a:avLst/>
          </a:prstGeom>
          <a:solidFill>
            <a:srgbClr val="F3F5F9"/>
          </a:solidFill>
          <a:ln w="9525">
            <a:solidFill>
              <a:srgbClr val="1426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142647"/>
                </a:solidFill>
                <a:latin typeface="Calibri"/>
              </a:rPr>
              <a:t>Deterministic classification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33555"/>
                </a:solidFill>
                <a:latin typeface="Calibri"/>
              </a:rPr>
              <a:t>• LLM picks from the closed set of authored scenarios only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33555"/>
                </a:solidFill>
                <a:latin typeface="Calibri"/>
              </a:rPr>
              <a:t>• No match → case is refused; operator picks a chip explicitly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33555"/>
                </a:solidFill>
                <a:latin typeface="Calibri"/>
              </a:rPr>
              <a:t>• Write actions run only via hand-authored `_executor` blocks (no NL invention)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400800"/>
            <a:ext cx="704088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/>
            <a:r>
              <a:rPr sz="1000" b="0" i="1">
                <a:solidFill>
                  <a:srgbClr val="556677"/>
                </a:solidFill>
                <a:latin typeface="Calibri"/>
              </a:rPr>
              <a:t>Adding a new data source = registration + a mapping. Every existing scenario picks it up — no rewrites.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52144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/>
            <a:r>
              <a:rPr sz="2400" b="1" i="0">
                <a:solidFill>
                  <a:srgbClr val="142647"/>
                </a:solidFill>
                <a:latin typeface="Calibri"/>
              </a:rPr>
              <a:t>How a request flows through the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52144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/>
            <a:r>
              <a:rPr sz="1200" b="0" i="1">
                <a:solidFill>
                  <a:srgbClr val="556677"/>
                </a:solidFill>
                <a:latin typeface="Calibri"/>
              </a:rPr>
              <a:t>One real operator prompt, six steps. Each step names the layer from the diagram that activates and what it does.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11521440" cy="594360"/>
          </a:xfrm>
          <a:prstGeom prst="rect">
            <a:avLst/>
          </a:prstGeom>
          <a:solidFill>
            <a:srgbClr val="E7EDF6"/>
          </a:solidFill>
          <a:ln w="9525">
            <a:solidFill>
              <a:srgbClr val="1426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/>
            <a:r>
              <a:rPr sz="1100" b="1" i="0">
                <a:solidFill>
                  <a:srgbClr val="142647"/>
                </a:solidFill>
                <a:latin typeface="Calibri"/>
              </a:rPr>
              <a:t>Operator types:  </a:t>
            </a:r>
            <a:r>
              <a:rPr sz="1100" b="0" i="1">
                <a:solidFill>
                  <a:srgbClr val="142647"/>
                </a:solidFill>
                <a:latin typeface="Calibri"/>
              </a:rPr>
              <a:t>“Override the SC-TC-001 sanctions block on order ORD-44216 — customer says they have an OFAC license.”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3794760" cy="2194560"/>
          </a:xfrm>
          <a:prstGeom prst="rect">
            <a:avLst/>
          </a:prstGeom>
          <a:solidFill>
            <a:srgbClr val="F3F5F9"/>
          </a:solidFill>
          <a:ln w="9525">
            <a:solidFill>
              <a:srgbClr val="1426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42647"/>
                </a:solidFill>
                <a:latin typeface="Calibri"/>
              </a:rPr>
              <a:t>1.  </a:t>
            </a:r>
            <a:r>
              <a:rPr sz="1050" b="1" i="0">
                <a:solidFill>
                  <a:srgbClr val="556677"/>
                </a:solidFill>
                <a:latin typeface="Calibri"/>
              </a:rPr>
              <a:t>Frontend → Orchestrator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142647"/>
                </a:solidFill>
                <a:latin typeface="Calibri"/>
              </a:rPr>
              <a:t>Operator types it</a:t>
            </a:r>
          </a:p>
          <a:p>
            <a:r>
              <a:rPr sz="1050" b="0" i="0">
                <a:solidFill>
                  <a:srgbClr val="233555"/>
                </a:solidFill>
                <a:latin typeface="Calibri"/>
              </a:rPr>
              <a:t>The chat composer sends the prompt to the backend over REST. An SSE channel opens so the operator can watch each stage's facts populate live.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1960" y="2103120"/>
            <a:ext cx="3794760" cy="2194560"/>
          </a:xfrm>
          <a:prstGeom prst="rect">
            <a:avLst/>
          </a:prstGeom>
          <a:solidFill>
            <a:srgbClr val="FBEED1"/>
          </a:solidFill>
          <a:ln w="9525">
            <a:solidFill>
              <a:srgbClr val="1426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42647"/>
                </a:solidFill>
                <a:latin typeface="Calibri"/>
              </a:rPr>
              <a:t>2.  </a:t>
            </a:r>
            <a:r>
              <a:rPr sz="1050" b="1" i="0">
                <a:solidFill>
                  <a:srgbClr val="556677"/>
                </a:solidFill>
                <a:latin typeface="Calibri"/>
              </a:rPr>
              <a:t>Agent runtime  (LLM classifier)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142647"/>
                </a:solidFill>
                <a:latin typeface="Calibri"/>
              </a:rPr>
              <a:t>Agent classifies the request</a:t>
            </a:r>
          </a:p>
          <a:p>
            <a:r>
              <a:rPr sz="1050" b="0" i="0">
                <a:solidFill>
                  <a:srgbClr val="233555"/>
                </a:solidFill>
                <a:latin typeface="Calibri"/>
              </a:rPr>
              <a:t>The LLM picks SC-TC-007 (Trade override — sanctioned counterparty) from the scenario catalog and rephrases it. Operator sees the rephrasing and clicks Confirm.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2103120"/>
            <a:ext cx="3794760" cy="2194560"/>
          </a:xfrm>
          <a:prstGeom prst="rect">
            <a:avLst/>
          </a:prstGeom>
          <a:solidFill>
            <a:srgbClr val="DFF7F3"/>
          </a:solidFill>
          <a:ln w="9525">
            <a:solidFill>
              <a:srgbClr val="1426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42647"/>
                </a:solidFill>
                <a:latin typeface="Calibri"/>
              </a:rPr>
              <a:t>3.  </a:t>
            </a:r>
            <a:r>
              <a:rPr sz="1050" b="1" i="0">
                <a:solidFill>
                  <a:srgbClr val="556677"/>
                </a:solidFill>
                <a:latin typeface="Calibri"/>
              </a:rPr>
              <a:t>Scenarios + Ontology + Resolvers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142647"/>
                </a:solidFill>
                <a:latin typeface="Calibri"/>
              </a:rPr>
              <a:t>Framework binds knowledge</a:t>
            </a:r>
          </a:p>
          <a:p>
            <a:r>
              <a:rPr sz="1050" b="0" i="0">
                <a:solidFill>
                  <a:srgbClr val="233555"/>
                </a:solidFill>
                <a:latin typeface="Calibri"/>
              </a:rPr>
              <a:t>Two stages run: intake pulls the active TC-override policy and the agent's IAM scope. Proposal pulls product master, the OFAC sanctions hit, and the contract value — each fact tagged with which ontology class asked and which source answered.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4434840"/>
            <a:ext cx="3794760" cy="2194560"/>
          </a:xfrm>
          <a:prstGeom prst="rect">
            <a:avLst/>
          </a:prstGeom>
          <a:solidFill>
            <a:srgbClr val="E7EDF6"/>
          </a:solidFill>
          <a:ln w="9525">
            <a:solidFill>
              <a:srgbClr val="1426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42647"/>
                </a:solidFill>
                <a:latin typeface="Calibri"/>
              </a:rPr>
              <a:t>4.  </a:t>
            </a:r>
            <a:r>
              <a:rPr sz="1050" b="1" i="0">
                <a:solidFill>
                  <a:srgbClr val="556677"/>
                </a:solidFill>
                <a:latin typeface="Calibri"/>
              </a:rPr>
              <a:t>Orchestrator  (policy gate)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142647"/>
                </a:solidFill>
                <a:latin typeface="Calibri"/>
              </a:rPr>
              <a:t>Policy says: needs a human</a:t>
            </a:r>
          </a:p>
          <a:p>
            <a:r>
              <a:rPr sz="1050" b="0" i="0">
                <a:solidFill>
                  <a:srgbClr val="233555"/>
                </a:solidFill>
                <a:latin typeface="Calibri"/>
              </a:rPr>
              <a:t>Sanctions overrides require named compliance officer approval, so the case enters the review stage and the orchestrator pauses. A Teams Adaptive Card is rendered with all bound facts, prior similar overrides, and three SOP excerpts retrieved by semantic search.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4434840"/>
            <a:ext cx="3794760" cy="2194560"/>
          </a:xfrm>
          <a:prstGeom prst="rect">
            <a:avLst/>
          </a:prstGeom>
          <a:solidFill>
            <a:srgbClr val="DFF1E7"/>
          </a:solidFill>
          <a:ln w="9525">
            <a:solidFill>
              <a:srgbClr val="1426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42647"/>
                </a:solidFill>
                <a:latin typeface="Calibri"/>
              </a:rPr>
              <a:t>5.  </a:t>
            </a:r>
            <a:r>
              <a:rPr sz="1050" b="1" i="0">
                <a:solidFill>
                  <a:srgbClr val="556677"/>
                </a:solidFill>
                <a:latin typeface="Calibri"/>
              </a:rPr>
              <a:t>Reviewer surface  →  Action registry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142647"/>
                </a:solidFill>
                <a:latin typeface="Calibri"/>
              </a:rPr>
              <a:t>Reviewer decides</a:t>
            </a:r>
          </a:p>
          <a:p>
            <a:r>
              <a:rPr sz="1050" b="0" i="0">
                <a:solidFill>
                  <a:srgbClr val="233555"/>
                </a:solidFill>
                <a:latin typeface="Calibri"/>
              </a:rPr>
              <a:t>The compliance officer reads the card and clicks Approve / Reject / Need more info. On approve, the orchestrator wakes the paused case and dispatches the write action to its named executor (sql_update or http_request).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4434840"/>
            <a:ext cx="3794760" cy="2194560"/>
          </a:xfrm>
          <a:prstGeom prst="rect">
            <a:avLst/>
          </a:prstGeom>
          <a:solidFill>
            <a:srgbClr val="F3F5F9"/>
          </a:solidFill>
          <a:ln w="9525">
            <a:solidFill>
              <a:srgbClr val="1426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42647"/>
                </a:solidFill>
                <a:latin typeface="Calibri"/>
              </a:rPr>
              <a:t>6.  </a:t>
            </a:r>
            <a:r>
              <a:rPr sz="1050" b="1" i="0">
                <a:solidFill>
                  <a:srgbClr val="556677"/>
                </a:solidFill>
                <a:latin typeface="Calibri"/>
              </a:rPr>
              <a:t>Lineage recorder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142647"/>
                </a:solidFill>
                <a:latin typeface="Calibri"/>
              </a:rPr>
              <a:t>Audit trail finalizes</a:t>
            </a:r>
          </a:p>
          <a:p>
            <a:r>
              <a:rPr sz="1050" b="0" i="0">
                <a:solidFill>
                  <a:srgbClr val="233555"/>
                </a:solidFill>
                <a:latin typeface="Calibri"/>
              </a:rPr>
              <a:t>Every fact bound, every query issued, every decision made: appended to an immutable per-case log. Replayable later for compliance review — even with a forced reviewer decision to compare counterfactuals.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537960"/>
            <a:ext cx="115214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ctr"/>
            <a:r>
              <a:rPr sz="1050" b="0" i="1">
                <a:solidFill>
                  <a:srgbClr val="556677"/>
                </a:solidFill>
                <a:latin typeface="Calibri"/>
              </a:rPr>
              <a:t>Autonomous cases finish in ~10 seconds; HITL cases pause indefinitely at step 4 until a named reviewer decides.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