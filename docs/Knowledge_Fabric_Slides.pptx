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4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248095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50" spc="200" kern="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· HOW THEY RELATE</a:t>
            </a:r>
            <a:endParaRPr lang="en-US" sz="85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8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FABRIC</a:t>
            </a:r>
            <a:pPr algn="r" indent="0" marL="0">
              <a:lnSpc>
                <a:spcPct val="150000"/>
              </a:lnSpc>
              <a:buNone/>
            </a:pPr>
            <a:r>
              <a:rPr lang="en-US" sz="850" spc="200" kern="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CONFIDENTIAL · 01 / 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building blocks </a:t>
            </a:r>
            <a:pPr indent="0" marL="0">
              <a:buNone/>
            </a:pPr>
            <a:r>
              <a:rPr lang="en-US" sz="29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how they work together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6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request relies on three things the team sets up once: the rules that say what to check, the shared definitions that say what the words mean, and the records that hold the facts.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11277295" cy="512064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210312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1D3F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QUESTION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40280" y="1993392"/>
            <a:ext cx="93570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“Can we do business with this supplier — or are they on a sanctions list?”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7589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64008" cy="8412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9504"/>
            <a:ext cx="457200" cy="457200"/>
          </a:xfrm>
          <a:prstGeom prst="rect">
            <a:avLst/>
          </a:prstGeom>
          <a:solidFill>
            <a:srgbClr val="1331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8072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Scenarios   </a:t>
            </a:r>
            <a:pPr indent="0" marL="0">
              <a:buNone/>
            </a:pPr>
            <a:r>
              <a:rPr lang="en-US" sz="85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099816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reusable set of rules for one kind of decision. </a:t>
            </a:r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what to check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where the information is kept.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2697480"/>
            <a:ext cx="3504895" cy="841248"/>
          </a:xfrm>
          <a:prstGeom prst="rect">
            <a:avLst/>
          </a:prstGeom>
          <a:solidFill>
            <a:srgbClr val="F1EFE9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697480"/>
            <a:ext cx="64008" cy="8412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788920"/>
            <a:ext cx="32305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EXAMPLE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412480" y="297180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“trade-check” rule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3246120"/>
            <a:ext cx="31848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 this supplier against the sanctions list.”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7589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22192"/>
            <a:ext cx="64008" cy="8412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14216"/>
            <a:ext cx="457200" cy="4572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   </a:t>
            </a:r>
            <a:pPr indent="0" marL="0">
              <a:buNone/>
            </a:pPr>
            <a:r>
              <a:rPr lang="en-US" sz="85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DEFINITIONS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224528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dictionary of business terms — so </a:t>
            </a:r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and every team means the same thing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822192"/>
            <a:ext cx="3504895" cy="841248"/>
          </a:xfrm>
          <a:prstGeom prst="rect">
            <a:avLst/>
          </a:prstGeom>
          <a:solidFill>
            <a:srgbClr val="F1EFE9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822192"/>
            <a:ext cx="64008" cy="8412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3913632"/>
            <a:ext cx="32305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EXAMPLE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412480" y="4096512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“supplier” &amp; “sanctioned company”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370832"/>
            <a:ext cx="31848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agreed meaning, used everywhere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946904"/>
            <a:ext cx="7589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946904"/>
            <a:ext cx="64008" cy="841248"/>
          </a:xfrm>
          <a:prstGeom prst="rect">
            <a:avLst/>
          </a:prstGeom>
          <a:solidFill>
            <a:srgbClr val="5F6B8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solidFill>
            <a:srgbClr val="5F6B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34440" y="505663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  </a:t>
            </a:r>
            <a:pPr indent="0" marL="0">
              <a:buNone/>
            </a:pPr>
            <a:r>
              <a:rPr lang="en-US" sz="85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34440" y="5349240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 where the real information lives. </a:t>
            </a:r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change one, and every rule keeps working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4946904"/>
            <a:ext cx="3504895" cy="841248"/>
          </a:xfrm>
          <a:prstGeom prst="rect">
            <a:avLst/>
          </a:prstGeom>
          <a:solidFill>
            <a:srgbClr val="F1EFE9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4946904"/>
            <a:ext cx="64008" cy="841248"/>
          </a:xfrm>
          <a:prstGeom prst="rect">
            <a:avLst/>
          </a:prstGeom>
          <a:solidFill>
            <a:srgbClr val="5F6B82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5038344"/>
            <a:ext cx="32305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EXAMPLE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5221224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records + the sanctions list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2480" y="5495544"/>
            <a:ext cx="31848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the supplier up in both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68680" y="3575304"/>
            <a:ext cx="0" cy="237744"/>
          </a:xfrm>
          <a:prstGeom prst="line">
            <a:avLst/>
          </a:prstGeom>
          <a:noFill/>
          <a:ln w="22225">
            <a:solidFill>
              <a:srgbClr val="9AA7BD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097280" y="3557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uses the agreed terms from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641080" y="3575304"/>
            <a:ext cx="0" cy="237744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68680" y="4700016"/>
            <a:ext cx="0" cy="237744"/>
          </a:xfrm>
          <a:prstGeom prst="line">
            <a:avLst/>
          </a:prstGeom>
          <a:noFill/>
          <a:ln w="22225">
            <a:solidFill>
              <a:srgbClr val="9AA7BD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09728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up the real facts in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641080" y="4700016"/>
            <a:ext cx="0" cy="237744"/>
          </a:xfrm>
          <a:prstGeom prst="line">
            <a:avLst/>
          </a:prstGeom>
          <a:noFill/>
          <a:ln w="22225">
            <a:solidFill>
              <a:srgbClr val="5F6B82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57200" y="5907024"/>
            <a:ext cx="11277295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907024"/>
            <a:ext cx="64008" cy="512064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5907024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00200" y="590702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comes back in seconds: </a:t>
            </a:r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supplier automatically</a:t>
            </a:r>
            <a:pPr indent="0" marL="0">
              <a:buNone/>
            </a:pPr>
            <a:r>
              <a:rPr lang="en-US" sz="110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flag it for a person to review if there’s a possible match.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189720" y="6016752"/>
            <a:ext cx="0" cy="292608"/>
          </a:xfrm>
          <a:prstGeom prst="line">
            <a:avLst/>
          </a:prstGeom>
          <a:noFill/>
          <a:ln w="12700">
            <a:solidFill>
              <a:srgbClr val="E4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0" y="5907024"/>
            <a:ext cx="2270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once by the team —</a:t>
            </a:r>
            <a:endParaRPr lang="en-US" sz="1050" dirty="0"/>
          </a:p>
          <a:p>
            <a:pPr algn="r" indent="0" marL="0">
              <a:buNone/>
            </a:pPr>
            <a:r>
              <a:rPr lang="en-US" sz="105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reused on every request.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Tata Consultancy Services Limited. All rights reserved. · TCS Confidential.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33695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</a:t>
            </a:r>
            <a:pPr algn="r" indent="0" marL="0">
              <a:buNone/>
            </a:pPr>
            <a:r>
              <a:rPr lang="en-US" sz="80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pPr algn="r"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shows one request flowing through all three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4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248095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50" spc="200" kern="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· HOW IT CONNECTS</a:t>
            </a:r>
            <a:endParaRPr lang="en-US" sz="85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8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FABRIC</a:t>
            </a:r>
            <a:pPr algn="r" indent="0" marL="0">
              <a:lnSpc>
                <a:spcPct val="150000"/>
              </a:lnSpc>
              <a:buNone/>
            </a:pPr>
            <a:r>
              <a:rPr lang="en-US" sz="850" spc="200" kern="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CONFIDENTIAL · 02 / 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all connects </a:t>
            </a:r>
            <a:pPr indent="0" marL="0">
              <a:buNone/>
            </a:pPr>
            <a:r>
              <a:rPr lang="en-US" sz="29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one request, end-to-end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request flows left to right across the top. Each step uses the building block directly beneath it — the colour and the line show the link.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PER REQUEST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97480" y="1865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prompt flows left to right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984248"/>
            <a:ext cx="6156655" cy="0"/>
          </a:xfrm>
          <a:prstGeom prst="line">
            <a:avLst/>
          </a:prstGeom>
          <a:noFill/>
          <a:ln w="12700">
            <a:solidFill>
              <a:srgbClr val="E4E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1106424" cy="1170432"/>
          </a:xfrm>
          <a:prstGeom prst="rect">
            <a:avLst/>
          </a:prstGeom>
          <a:solidFill>
            <a:srgbClr val="F1EFE9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40280"/>
            <a:ext cx="9235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b="1" spc="15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 prompt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12341" y="2240280"/>
            <a:ext cx="226222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2341" y="2240280"/>
            <a:ext cx="2262226" cy="457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1940357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69541" y="2368296"/>
            <a:ext cx="1713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269541" y="2514600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58645" y="2843784"/>
            <a:ext cx="1987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picks the matching scenario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23283" y="2240280"/>
            <a:ext cx="226222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3283" y="2240280"/>
            <a:ext cx="2262226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4451299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80483" y="2368296"/>
            <a:ext cx="1713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80483" y="2514600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469587" y="2843784"/>
            <a:ext cx="1987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the facts it needs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86930" y="2240280"/>
            <a:ext cx="226222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86930" y="2240280"/>
            <a:ext cx="2262226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7114946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44130" y="2368296"/>
            <a:ext cx="1713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44130" y="2514600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133234" y="2843784"/>
            <a:ext cx="1987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act now, or pause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3234" y="3136392"/>
            <a:ext cx="1969618" cy="201168"/>
          </a:xfrm>
          <a:prstGeom prst="roundRect">
            <a:avLst>
              <a:gd name="adj" fmla="val 13636"/>
            </a:avLst>
          </a:prstGeom>
          <a:solidFill>
            <a:srgbClr val="FBEBEE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building block — routes via Auto?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581912" y="2770632"/>
            <a:ext cx="212141" cy="0"/>
          </a:xfrm>
          <a:prstGeom prst="line">
            <a:avLst/>
          </a:prstGeom>
          <a:noFill/>
          <a:ln w="22225">
            <a:solidFill>
              <a:srgbClr val="9AA7BD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426464" y="2843784"/>
            <a:ext cx="5230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092854" y="2770632"/>
            <a:ext cx="212141" cy="0"/>
          </a:xfrm>
          <a:prstGeom prst="line">
            <a:avLst/>
          </a:prstGeom>
          <a:noFill/>
          <a:ln w="22225">
            <a:solidFill>
              <a:srgbClr val="9AA7BD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937406" y="2843784"/>
            <a:ext cx="5230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03797" y="2770632"/>
            <a:ext cx="364846" cy="0"/>
          </a:xfrm>
          <a:prstGeom prst="line">
            <a:avLst/>
          </a:prstGeom>
          <a:noFill/>
          <a:ln w="22225">
            <a:solidFill>
              <a:srgbClr val="9AA7BD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448349" y="2843784"/>
            <a:ext cx="6757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267444" y="2770632"/>
            <a:ext cx="212141" cy="0"/>
          </a:xfrm>
          <a:prstGeom prst="line">
            <a:avLst/>
          </a:prstGeom>
          <a:noFill/>
          <a:ln w="22225">
            <a:solidFill>
              <a:srgbClr val="9AA7BD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9111996" y="2843784"/>
            <a:ext cx="5230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414662" y="2340864"/>
            <a:ext cx="969264" cy="96926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51238" y="2679192"/>
            <a:ext cx="896112" cy="29260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346436" y="2258568"/>
            <a:ext cx="138714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46436" y="2258568"/>
            <a:ext cx="54864" cy="45720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43" name="Text 41"/>
          <p:cNvSpPr/>
          <p:nvPr/>
        </p:nvSpPr>
        <p:spPr>
          <a:xfrm>
            <a:off x="10437876" y="2258568"/>
            <a:ext cx="12774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spc="10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OUTCOME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Executed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0346436" y="2770632"/>
            <a:ext cx="138714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b="1" spc="50" kern="0" dirty="0">
                <a:solidFill>
                  <a:srgbClr val="B9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HUMAN-IN-THE-LOOP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346436" y="3063240"/>
            <a:ext cx="1387145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74452" y="3063240"/>
            <a:ext cx="1204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 </a:t>
            </a:r>
            <a:pPr indent="0" marL="0">
              <a:buNone/>
            </a:pPr>
            <a:r>
              <a:rPr lang="en-US" sz="1050" i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approves / rejects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943454" y="3447288"/>
            <a:ext cx="0" cy="475488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2650846" y="3575304"/>
            <a:ext cx="585216" cy="182880"/>
          </a:xfrm>
          <a:prstGeom prst="roundRect">
            <a:avLst>
              <a:gd name="adj" fmla="val 25000"/>
            </a:avLst>
          </a:prstGeom>
          <a:solidFill>
            <a:srgbClr val="FBFAF7"/>
          </a:solidFill>
          <a:ln w="12700">
            <a:solidFill>
              <a:srgbClr val="13315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454396" y="3447288"/>
            <a:ext cx="0" cy="4754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5161788" y="3575304"/>
            <a:ext cx="585216" cy="182880"/>
          </a:xfrm>
          <a:prstGeom prst="roundRect">
            <a:avLst>
              <a:gd name="adj" fmla="val 25000"/>
            </a:avLst>
          </a:prstGeom>
          <a:solidFill>
            <a:srgbClr val="FBFAF7"/>
          </a:solidFill>
          <a:ln w="12700">
            <a:solidFill>
              <a:srgbClr val="0E7C8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3867912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OBJECTS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authored once, reused on every request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812341" y="3977640"/>
            <a:ext cx="226222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2341" y="3977640"/>
            <a:ext cx="2262226" cy="457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54" name="Text 52"/>
          <p:cNvSpPr/>
          <p:nvPr/>
        </p:nvSpPr>
        <p:spPr>
          <a:xfrm>
            <a:off x="1958645" y="4142232"/>
            <a:ext cx="329184" cy="310896"/>
          </a:xfrm>
          <a:prstGeom prst="rect">
            <a:avLst/>
          </a:prstGeom>
          <a:solidFill>
            <a:srgbClr val="1331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342693" y="4123944"/>
            <a:ext cx="1603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958645" y="4489704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rule-sets — one per repeatable decision.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958645" y="4873752"/>
            <a:ext cx="1969618" cy="0"/>
          </a:xfrm>
          <a:prstGeom prst="line">
            <a:avLst/>
          </a:prstGeom>
          <a:noFill/>
          <a:ln w="12700">
            <a:solidFill>
              <a:srgbClr val="E4E2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58645" y="4892040"/>
            <a:ext cx="1969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 </a:t>
            </a:r>
            <a:pPr indent="0" marL="0">
              <a:buNone/>
            </a:pPr>
            <a:r>
              <a:rPr lang="en-US" sz="950" i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SC-TC-007 — Trade override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323283" y="3977640"/>
            <a:ext cx="226222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23283" y="3977640"/>
            <a:ext cx="2262226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1" name="Text 59"/>
          <p:cNvSpPr/>
          <p:nvPr/>
        </p:nvSpPr>
        <p:spPr>
          <a:xfrm>
            <a:off x="4469587" y="4142232"/>
            <a:ext cx="329184" cy="310896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53635" y="4123944"/>
            <a:ext cx="1603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469587" y="4489704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business definitions, reused everywhere.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469587" y="4873752"/>
            <a:ext cx="1969618" cy="0"/>
          </a:xfrm>
          <a:prstGeom prst="line">
            <a:avLst/>
          </a:prstGeom>
          <a:noFill/>
          <a:ln w="12700">
            <a:solidFill>
              <a:srgbClr val="E4E2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69587" y="4892040"/>
            <a:ext cx="1969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 </a:t>
            </a:r>
            <a:pPr indent="0" marL="0">
              <a:buNone/>
            </a:pPr>
            <a:r>
              <a:rPr lang="en-US" sz="950" i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· Product · SanctionedEntity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986930" y="3977640"/>
            <a:ext cx="2262226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86930" y="3977640"/>
            <a:ext cx="2262226" cy="45720"/>
          </a:xfrm>
          <a:prstGeom prst="rect">
            <a:avLst/>
          </a:prstGeom>
          <a:solidFill>
            <a:srgbClr val="5F6B82"/>
          </a:solidFill>
          <a:ln/>
        </p:spPr>
      </p:sp>
      <p:sp>
        <p:nvSpPr>
          <p:cNvPr id="68" name="Text 66"/>
          <p:cNvSpPr/>
          <p:nvPr/>
        </p:nvSpPr>
        <p:spPr>
          <a:xfrm>
            <a:off x="7133234" y="4142232"/>
            <a:ext cx="329184" cy="310896"/>
          </a:xfrm>
          <a:prstGeom prst="rect">
            <a:avLst/>
          </a:prstGeom>
          <a:solidFill>
            <a:srgbClr val="5F6B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517282" y="4123944"/>
            <a:ext cx="16038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133234" y="4489704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 the definitions read from.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133234" y="4873752"/>
            <a:ext cx="1969618" cy="0"/>
          </a:xfrm>
          <a:prstGeom prst="line">
            <a:avLst/>
          </a:prstGeom>
          <a:noFill/>
          <a:ln w="12700">
            <a:solidFill>
              <a:srgbClr val="E4E2D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3234" y="4892040"/>
            <a:ext cx="1969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 </a:t>
            </a:r>
            <a:pPr indent="0" marL="0">
              <a:buNone/>
            </a:pPr>
            <a:r>
              <a:rPr lang="en-US" sz="950" i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records · sanctions list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475324" y="441655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603797" y="4654296"/>
            <a:ext cx="364846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9497873" y="3977640"/>
            <a:ext cx="223662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44177" y="4087368"/>
            <a:ext cx="1962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= THE LINK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644177" y="4352544"/>
            <a:ext cx="201168" cy="4114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78" name="Text 76"/>
          <p:cNvSpPr/>
          <p:nvPr/>
        </p:nvSpPr>
        <p:spPr>
          <a:xfrm>
            <a:off x="9918497" y="4288536"/>
            <a:ext cx="1687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</a:t>
            </a:r>
            <a:pPr indent="0" marL="0">
              <a:buNone/>
            </a:pPr>
            <a:r>
              <a:rPr lang="en-US" sz="9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644177" y="4544568"/>
            <a:ext cx="201168" cy="411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0" name="Text 78"/>
          <p:cNvSpPr/>
          <p:nvPr/>
        </p:nvSpPr>
        <p:spPr>
          <a:xfrm>
            <a:off x="9918497" y="4480560"/>
            <a:ext cx="1687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→ </a:t>
            </a:r>
            <a:pPr indent="0" marL="0">
              <a:buNone/>
            </a:pPr>
            <a:r>
              <a:rPr lang="en-US" sz="9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644177" y="4736592"/>
            <a:ext cx="201168" cy="411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2" name="Text 80"/>
          <p:cNvSpPr/>
          <p:nvPr/>
        </p:nvSpPr>
        <p:spPr>
          <a:xfrm>
            <a:off x="9918497" y="4672584"/>
            <a:ext cx="1687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→ </a:t>
            </a:r>
            <a:pPr indent="0" marL="0">
              <a:buNone/>
            </a:pPr>
            <a:r>
              <a:rPr lang="en-US" sz="9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only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5413248"/>
            <a:ext cx="11277295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" y="5413248"/>
            <a:ext cx="64008" cy="6766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5" name="Text 83"/>
          <p:cNvSpPr/>
          <p:nvPr/>
        </p:nvSpPr>
        <p:spPr>
          <a:xfrm>
            <a:off x="658368" y="541324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b="1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AUTHOR · BUILD TIME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3063240" y="5541264"/>
            <a:ext cx="0" cy="420624"/>
          </a:xfrm>
          <a:prstGeom prst="line">
            <a:avLst/>
          </a:prstGeom>
          <a:noFill/>
          <a:ln w="12700">
            <a:solidFill>
              <a:srgbClr val="E4E2D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46120" y="5522976"/>
            <a:ext cx="8351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pPr indent="0" marL="0">
              <a:buNone/>
            </a:pPr>
            <a:r>
              <a:rPr lang="en-US" sz="1100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rule-sets · Ontology definitions · Data-source registrations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3246120" y="5779008"/>
            <a:ext cx="8351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one new source → every existing rule picks it up via the ontology. No rewrites.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45720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Tata Consultancy Services Limited. All rights reserved. · TCS Confidential.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333695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</a:t>
            </a:r>
            <a:pPr algn="r" indent="0" marL="0">
              <a:buNone/>
            </a:pPr>
            <a:r>
              <a:rPr lang="en-US" sz="80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pPr algn="r"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or change a data source — and every rule keeps working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400" kern="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248095" y="3108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50" spc="200" kern="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CHANGE · ONE EDIT, NOT MANY</a:t>
            </a:r>
            <a:endParaRPr lang="en-US" sz="85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85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FABRIC</a:t>
            </a:r>
            <a:pPr algn="r" indent="0" marL="0">
              <a:lnSpc>
                <a:spcPct val="150000"/>
              </a:lnSpc>
              <a:buNone/>
            </a:pPr>
            <a:r>
              <a:rPr lang="en-US" sz="850" spc="200" kern="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CONFIDENTIAL · 03 / 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or change a data source </a:t>
            </a:r>
            <a:pPr indent="0" marL="0">
              <a:buNone/>
            </a:pPr>
            <a:r>
              <a:rPr lang="en-US" sz="2900" i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every rule keeps working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speak only to the shared definitions — never to the data directly. So a change at the bottom is a single update in the middle, and everything above keeps running, untouched.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04288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F1EFE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WAY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25968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rule wired straight to the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40180" y="3392424"/>
            <a:ext cx="0" cy="740664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0180" y="3392424"/>
            <a:ext cx="1760220" cy="740664"/>
          </a:xfrm>
          <a:prstGeom prst="line">
            <a:avLst/>
          </a:prstGeom>
          <a:noFill/>
          <a:ln w="12700">
            <a:solidFill>
              <a:srgbClr val="D9A1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440180" y="3392424"/>
            <a:ext cx="1760220" cy="740664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392424"/>
            <a:ext cx="0" cy="740664"/>
          </a:xfrm>
          <a:prstGeom prst="line">
            <a:avLst/>
          </a:prstGeom>
          <a:noFill/>
          <a:ln w="12700">
            <a:solidFill>
              <a:srgbClr val="D9A1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3392424"/>
            <a:ext cx="1760220" cy="740664"/>
          </a:xfrm>
          <a:prstGeom prst="line">
            <a:avLst/>
          </a:prstGeom>
          <a:noFill/>
          <a:ln w="12700">
            <a:solidFill>
              <a:srgbClr val="D9A1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3200400" y="3392424"/>
            <a:ext cx="1760220" cy="740664"/>
          </a:xfrm>
          <a:prstGeom prst="line">
            <a:avLst/>
          </a:prstGeom>
          <a:noFill/>
          <a:ln w="12700">
            <a:solidFill>
              <a:srgbClr val="D9A1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0620" y="3392424"/>
            <a:ext cx="0" cy="740664"/>
          </a:xfrm>
          <a:prstGeom prst="line">
            <a:avLst/>
          </a:prstGeom>
          <a:noFill/>
          <a:ln w="12700">
            <a:solidFill>
              <a:srgbClr val="D9A1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440180" y="3392424"/>
            <a:ext cx="3520440" cy="740664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083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282549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rewrite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37460" y="30083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37460" y="282549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rewrite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97680" y="30083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282549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rewrite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77240" y="413308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BEBEE"/>
          </a:solidFill>
          <a:ln w="19050">
            <a:solidFill>
              <a:srgbClr val="C810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37460" y="413308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0" y="413308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" y="4590288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58368" y="4919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1 source → </a:t>
            </a:r>
            <a:pPr indent="0" marL="0"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down &amp; rewrite every rule that used it.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45352" y="2139696"/>
            <a:ext cx="5486400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304288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331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FABRIC WAY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46520" y="25968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speak only to the shared definitions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8332" y="3392424"/>
            <a:ext cx="1760220" cy="283464"/>
          </a:xfrm>
          <a:prstGeom prst="line">
            <a:avLst/>
          </a:prstGeom>
          <a:noFill/>
          <a:ln w="15875">
            <a:solidFill>
              <a:srgbClr val="1331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88552" y="3392424"/>
            <a:ext cx="0" cy="283464"/>
          </a:xfrm>
          <a:prstGeom prst="line">
            <a:avLst/>
          </a:prstGeom>
          <a:noFill/>
          <a:ln w="15875">
            <a:solidFill>
              <a:srgbClr val="1331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8988552" y="3392424"/>
            <a:ext cx="1760220" cy="283464"/>
          </a:xfrm>
          <a:prstGeom prst="line">
            <a:avLst/>
          </a:prstGeom>
          <a:noFill/>
          <a:ln w="15875">
            <a:solidFill>
              <a:srgbClr val="1331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7228332" y="4096512"/>
            <a:ext cx="1760220" cy="256032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88552" y="4096512"/>
            <a:ext cx="0" cy="256032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88552" y="4096512"/>
            <a:ext cx="1760220" cy="256032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30083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08392" y="2916936"/>
            <a:ext cx="219456" cy="219456"/>
          </a:xfrm>
          <a:prstGeom prst="ellipse">
            <a:avLst/>
          </a:prstGeom>
          <a:solidFill>
            <a:srgbClr val="1F8A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65392" y="2825496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325612" y="30083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468612" y="2916936"/>
            <a:ext cx="219456" cy="219456"/>
          </a:xfrm>
          <a:prstGeom prst="ellipse">
            <a:avLst/>
          </a:prstGeom>
          <a:solidFill>
            <a:srgbClr val="1F8A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5612" y="2825496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085832" y="300837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228832" y="2916936"/>
            <a:ext cx="219456" cy="219456"/>
          </a:xfrm>
          <a:prstGeom prst="ellipse">
            <a:avLst/>
          </a:prstGeom>
          <a:solidFill>
            <a:srgbClr val="1F8A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085832" y="2825496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54112" y="3675888"/>
            <a:ext cx="2468880" cy="420624"/>
          </a:xfrm>
          <a:prstGeom prst="rect">
            <a:avLst/>
          </a:prstGeom>
          <a:solidFill>
            <a:srgbClr val="E8F0F0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54112" y="36758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pPr algn="ctr" indent="0" marL="0">
              <a:buNone/>
            </a:pPr>
            <a:r>
              <a:rPr lang="en-US" sz="850" i="1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shared definitions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177272" y="3547872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B989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EDIT HERE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565392" y="4352544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E6F2EC"/>
          </a:solidFill>
          <a:ln w="19050">
            <a:solidFill>
              <a:srgbClr val="1F8A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325612" y="4352544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085832" y="4352544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2D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65392" y="4809744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/ ADDED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446520" y="4919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1 source → </a:t>
            </a:r>
            <a:pPr indent="0" marL="0">
              <a:buNone/>
            </a:pPr>
            <a:r>
              <a:rPr lang="en-US" sz="950" dirty="0">
                <a:solidFill>
                  <a:srgbClr val="5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1 mapping. Every rule keeps working.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5504688"/>
            <a:ext cx="11277295" cy="603504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" y="5660136"/>
            <a:ext cx="292608" cy="292608"/>
          </a:xfrm>
          <a:prstGeom prst="ellipse">
            <a:avLst/>
          </a:prstGeom>
          <a:solidFill>
            <a:srgbClr val="1F8A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097280" y="5504688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never touch the data directly.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or changing a source is one update in the shared layer — and every rule above keeps working. No rewrites.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Tata Consultancy Services Limited. All rights reserved. · TCS Confidential.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33695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</a:t>
            </a:r>
            <a:pPr algn="r" indent="0" marL="0">
              <a:buNone/>
            </a:pPr>
            <a:r>
              <a:rPr lang="en-US" sz="80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pPr algn="r" indent="0" marL="0">
              <a:buNone/>
            </a:pPr>
            <a:r>
              <a:rPr lang="en-US" sz="8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traces one real prompt end-to-end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Fabric</dc:title>
  <dc:subject>PptxGenJS Presentation</dc:subject>
  <dc:creator>TCS</dc:creator>
  <cp:lastModifiedBy>TCS</cp:lastModifiedBy>
  <cp:revision>1</cp:revision>
  <dcterms:created xsi:type="dcterms:W3CDTF">2026-05-25T22:36:01Z</dcterms:created>
  <dcterms:modified xsi:type="dcterms:W3CDTF">2026-05-25T22:36:01Z</dcterms:modified>
</cp:coreProperties>
</file>